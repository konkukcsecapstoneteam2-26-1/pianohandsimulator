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74" r:id="rId10"/>
    <p:sldId id="265" r:id="rId11"/>
    <p:sldId id="266" r:id="rId12"/>
    <p:sldId id="268" r:id="rId13"/>
    <p:sldId id="269" r:id="rId14"/>
    <p:sldId id="270" r:id="rId15"/>
    <p:sldId id="271" r:id="rId16"/>
    <p:sldId id="273" r:id="rId17"/>
  </p:sldIdLst>
  <p:sldSz cx="12188825" cy="6858000"/>
  <p:notesSz cx="6858000" cy="9144000"/>
  <p:embeddedFontLst>
    <p:embeddedFont>
      <p:font typeface="Pretendard" panose="02000503000000020004" pitchFamily="50" charset="-127"/>
      <p:regular r:id="rId18"/>
      <p:bold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Piano </a:t>
            </a:r>
            <a:r>
              <a:rPr lang="en-US" sz="3600" b="1" i="0" dirty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Hand</a:t>
            </a:r>
            <a:r>
              <a:rPr sz="3600" b="1" i="0" dirty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3600" b="1" i="0" dirty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Simulation</a:t>
            </a:r>
            <a:endParaRPr sz="3600" b="1" i="0" dirty="0">
              <a:solidFill>
                <a:srgbClr val="1A1A1A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3601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 err="1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졸업</a:t>
            </a:r>
            <a:r>
              <a:rPr sz="2400" b="1" i="0" dirty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400" b="1" i="0" dirty="0" err="1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</a:t>
            </a:r>
            <a:r>
              <a:rPr sz="2400" b="1" i="0" dirty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400" b="1" i="0" dirty="0" err="1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중간</a:t>
            </a:r>
            <a:r>
              <a:rPr sz="2400" b="1" i="0" dirty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400" b="1" i="0" dirty="0" err="1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보고서</a:t>
            </a:r>
            <a:endParaRPr sz="2400" b="1" i="0" dirty="0">
              <a:solidFill>
                <a:srgbClr val="555555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0" y="3566160"/>
            <a:ext cx="4873752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0" y="3794760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79476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졸업프로젝트 3201 — 2팀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297680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팀원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429768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정근녕  ·  한승현  ·  이수민  ·  곽경민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800600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제출일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80060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2026년 5월 12일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목차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5F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46304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개요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9384"/>
            <a:ext cx="11274552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2020824"/>
            <a:ext cx="640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5F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20824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전체 시스템 아키텍처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78608"/>
            <a:ext cx="640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5F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578608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진행 현황 요약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44952"/>
            <a:ext cx="11274552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3136392"/>
            <a:ext cx="640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5F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136392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운지법 결정 엔진 (01_Fingering)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94176"/>
            <a:ext cx="640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5F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694176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IK 기반 모션 생성 (02_IK)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60520"/>
            <a:ext cx="11274552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4251959"/>
            <a:ext cx="640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5F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251959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커스텀 셰이더 파이프라인 (03_Skinning)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09744"/>
            <a:ext cx="640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5F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809744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Chaos Flesh PBD Skinning (03_Skinning)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76088"/>
            <a:ext cx="11274552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" y="5367527"/>
            <a:ext cx="640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5F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367527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기술적 도전 및 해결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925312"/>
            <a:ext cx="640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5F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925312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향후 계획 및 결론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기획 배경 · 목표 · 파이프라인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74552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5F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기획 배경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09928"/>
            <a:ext cx="10817352" cy="16459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112471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 Linear Blend Skinning(LBS)의 한계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67128"/>
            <a:ext cx="10927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관절 뭉개짐(Candy Wrapper Artifact), 주름·피하조직의 비사실적 표현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51176"/>
            <a:ext cx="112471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MIDI → 실제 피아니스트 수준 운지법 자동 재현 도구의 부재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35224"/>
            <a:ext cx="10927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 게임/시뮬레이션 엔진에서 해부학적 제약을 반영한 운지법 시스템 없음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49039"/>
            <a:ext cx="112745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3822191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5F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목표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06240"/>
            <a:ext cx="10817352" cy="16459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4251960"/>
            <a:ext cx="112471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MIDI-to-Motion:  MIDI 파싱 → 해부학적 운지법 자동 계산 → IK 애니메이션 데이터 생성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09160"/>
            <a:ext cx="112471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High-Fidelity Rendering:  PBD 조직 변형 + Tension Map 기반 동적 노멀로 주름·핏줄 표현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257800"/>
            <a:ext cx="112745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" y="5321808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5F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통합 파이프라인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05856"/>
            <a:ext cx="10817352" cy="16459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2560320" cy="6858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5806440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MIDI 입력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961888"/>
            <a:ext cx="274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5760720"/>
            <a:ext cx="2560320" cy="685800"/>
          </a:xfrm>
          <a:prstGeom prst="rect">
            <a:avLst/>
          </a:prstGeom>
          <a:solidFill>
            <a:srgbClr val="C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291840" y="5806440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운지법 계산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5961888"/>
            <a:ext cx="274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5760720"/>
            <a:ext cx="2560320" cy="685800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126480" y="5806440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IK 모션 생성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5961888"/>
            <a:ext cx="274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0" y="5760720"/>
            <a:ext cx="2560320" cy="685800"/>
          </a:xfrm>
          <a:prstGeom prst="rect">
            <a:avLst/>
          </a:prstGeom>
          <a:solidFill>
            <a:srgbClr val="6A35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961120" y="5806440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피부 렌더링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팀 구성 및 기술 스택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394960" cy="146304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" cy="1463040"/>
          </a:xfrm>
          <a:prstGeom prst="rect">
            <a:avLst/>
          </a:prstGeom>
          <a:solidFill>
            <a:srgbClr val="C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정근녕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508760"/>
            <a:ext cx="2560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5A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[01_Fingering]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5029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MIDI 파서 및 DP 기반 운지법 결정 알고리즘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394960" cy="146304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4864" cy="1463040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92240" y="1481328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한승현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1508760"/>
            <a:ext cx="2560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7A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[02_IK]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57400"/>
            <a:ext cx="5029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Jacobian 기반 역운동학(IK) 모션 생성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5394960" cy="146304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57200" y="3017520"/>
            <a:ext cx="54864" cy="1463040"/>
          </a:xfrm>
          <a:prstGeom prst="rect">
            <a:avLst/>
          </a:prstGeom>
          <a:solidFill>
            <a:srgbClr val="6A35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" y="3127248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이수민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154679"/>
            <a:ext cx="2560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359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[03_Skinning]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03320"/>
            <a:ext cx="5029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UE5 커스텀 셰이더, Tension Map, 카메라/UI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017520"/>
            <a:ext cx="5394960" cy="146304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309360" y="3017520"/>
            <a:ext cx="54864" cy="1463040"/>
          </a:xfrm>
          <a:prstGeom prst="rect">
            <a:avLst/>
          </a:prstGeom>
          <a:solidFill>
            <a:srgbClr val="6A35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92240" y="3127248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곽경민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3154679"/>
            <a:ext cx="2560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359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[03_Skinning]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703320"/>
            <a:ext cx="5029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Chaos Flesh PBD 피부 시뮬레이션, 핏줄·주름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800600"/>
            <a:ext cx="112745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7200" y="4864608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5F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기술 스택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248656"/>
            <a:ext cx="10817352" cy="16459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57200" y="5321808"/>
            <a:ext cx="1783080" cy="475488"/>
          </a:xfrm>
          <a:prstGeom prst="rect">
            <a:avLst/>
          </a:prstGeom>
          <a:solidFill>
            <a:srgbClr val="F5F5F5"/>
          </a:solidFill>
          <a:ln>
            <a:solidFill>
              <a:srgbClr val="C0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7200" y="5367528"/>
            <a:ext cx="1783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5A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Python / DP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31720" y="5321808"/>
            <a:ext cx="1783080" cy="475488"/>
          </a:xfrm>
          <a:prstGeom prst="rect">
            <a:avLst/>
          </a:prstGeom>
          <a:solidFill>
            <a:srgbClr val="F5F5F5"/>
          </a:solidFill>
          <a:ln>
            <a:solidFill>
              <a:srgbClr val="00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331720" y="5367528"/>
            <a:ext cx="1783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7A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C++ / Jacobian IK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5321808"/>
            <a:ext cx="1783080" cy="475488"/>
          </a:xfrm>
          <a:prstGeom prst="rect">
            <a:avLst/>
          </a:prstGeom>
          <a:solidFill>
            <a:srgbClr val="F5F5F5"/>
          </a:solidFill>
          <a:ln>
            <a:solidFill>
              <a:srgbClr val="6A3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206240" y="5367528"/>
            <a:ext cx="1783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A359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Unreal Engine 5.5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59" y="5321808"/>
            <a:ext cx="1783080" cy="475488"/>
          </a:xfrm>
          <a:prstGeom prst="rect">
            <a:avLst/>
          </a:prstGeom>
          <a:solidFill>
            <a:srgbClr val="F5F5F5"/>
          </a:solidFill>
          <a:ln>
            <a:solidFill>
              <a:srgbClr val="6A3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080759" y="5367528"/>
            <a:ext cx="1783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A359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Chaos Flesh / PBD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55279" y="5321808"/>
            <a:ext cx="1783080" cy="475488"/>
          </a:xfrm>
          <a:prstGeom prst="rect">
            <a:avLst/>
          </a:prstGeom>
          <a:solidFill>
            <a:srgbClr val="F5F5F5"/>
          </a:solidFill>
          <a:ln>
            <a:solidFill>
              <a:srgbClr val="1E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955279" y="5367528"/>
            <a:ext cx="1783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5F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HLSL / SVE / RDG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29800" y="5321808"/>
            <a:ext cx="1783080" cy="475488"/>
          </a:xfrm>
          <a:prstGeom prst="rect">
            <a:avLst/>
          </a:prstGeom>
          <a:solidFill>
            <a:srgbClr val="F5F5F5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829800" y="5367528"/>
            <a:ext cx="1783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MIDI / 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27432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전체 시스템 아키텍처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1325" y="2575468"/>
            <a:ext cx="934669" cy="731520"/>
          </a:xfrm>
          <a:prstGeom prst="rect">
            <a:avLst/>
          </a:prstGeom>
          <a:solidFill>
            <a:srgbClr val="F5F5F5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19" y="2639077"/>
            <a:ext cx="1371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MIDI
입력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1639" y="1342415"/>
            <a:ext cx="320040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0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691639" y="1342415"/>
            <a:ext cx="3200400" cy="457200"/>
          </a:xfrm>
          <a:prstGeom prst="rect">
            <a:avLst/>
          </a:prstGeom>
          <a:solidFill>
            <a:srgbClr val="C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1639" y="1360703"/>
            <a:ext cx="3200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01_Fingering
정근녕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74519" y="1936775"/>
            <a:ext cx="28346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0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74519" y="1982494"/>
            <a:ext cx="2834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5A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MIDI 파서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59" y="2485415"/>
            <a:ext cx="365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74519" y="2686583"/>
            <a:ext cx="28346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0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74519" y="2732302"/>
            <a:ext cx="2834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5A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양손 분리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59" y="3235223"/>
            <a:ext cx="365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74519" y="3436391"/>
            <a:ext cx="28346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0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74519" y="3482111"/>
            <a:ext cx="2834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C05A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DP Solver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59" y="3985030"/>
            <a:ext cx="365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4519" y="4186198"/>
            <a:ext cx="28346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0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874519" y="4231918"/>
            <a:ext cx="2834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5A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JSON 출력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9031" y="2805455"/>
            <a:ext cx="2926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39385" y="1353312"/>
            <a:ext cx="320040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00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239385" y="1353312"/>
            <a:ext cx="3200400" cy="457200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39385" y="1371600"/>
            <a:ext cx="3200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02_IK
한승현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22265" y="1947672"/>
            <a:ext cx="28346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00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22265" y="1993391"/>
            <a:ext cx="2834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7A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IK 목표 설정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6705" y="2496312"/>
            <a:ext cx="365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22265" y="2697480"/>
            <a:ext cx="28346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00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22265" y="2743199"/>
            <a:ext cx="2834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7A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Jacobian IK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6705" y="3246120"/>
            <a:ext cx="365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22265" y="3447288"/>
            <a:ext cx="28346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00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422265" y="3493008"/>
            <a:ext cx="2834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7A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ROM 클램핑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56705" y="3995927"/>
            <a:ext cx="365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22265" y="4197095"/>
            <a:ext cx="28346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00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422265" y="4242815"/>
            <a:ext cx="2834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7A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Bone Transform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28489" y="2797870"/>
            <a:ext cx="2926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14105" y="1360703"/>
            <a:ext cx="320040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6A3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8714105" y="1360703"/>
            <a:ext cx="3200400" cy="457200"/>
          </a:xfrm>
          <a:prstGeom prst="rect">
            <a:avLst/>
          </a:prstGeom>
          <a:solidFill>
            <a:srgbClr val="6A35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714105" y="1378991"/>
            <a:ext cx="3200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03_Skinning
이수민·곽경민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96985" y="1955063"/>
            <a:ext cx="28346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6A3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896985" y="2000782"/>
            <a:ext cx="2834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A359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Skeletal Mesh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31426" y="2503703"/>
            <a:ext cx="365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96985" y="2704871"/>
            <a:ext cx="28346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6A3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896985" y="2750590"/>
            <a:ext cx="2834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A359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Chaos Flesh PBD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31426" y="3253511"/>
            <a:ext cx="365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96985" y="3454679"/>
            <a:ext cx="28346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6A3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896985" y="3500399"/>
            <a:ext cx="2834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A359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커스텀 셰이더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31426" y="4003318"/>
            <a:ext cx="365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896985" y="4204486"/>
            <a:ext cx="28346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6A3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896985" y="4250206"/>
            <a:ext cx="2834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A359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렌더링 출력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21497" y="2823743"/>
            <a:ext cx="2926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운지법 결정 엔진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01_Fingering — 정근녕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74552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5A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알고리즘 진화 과정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09928"/>
            <a:ext cx="10817352" cy="16459"/>
          </a:xfrm>
          <a:prstGeom prst="rect">
            <a:avLst/>
          </a:prstGeom>
          <a:solidFill>
            <a:srgbClr val="C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5394960" cy="1170432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1856231"/>
            <a:ext cx="914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5A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V1/V2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21991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개별 음표 단위 DP, 기초 비용 함수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60320"/>
            <a:ext cx="51206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 화음 처리 미흡, 손가락 꼬임 빈발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81528"/>
            <a:ext cx="5394960" cy="1170432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914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5A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V4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520440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화음 그룹 DP, ROM 적용, MAX_SPAN 상수화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858768"/>
            <a:ext cx="51206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 Monophonic 가정 유지, 음악적 맥락 미반영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79976"/>
            <a:ext cx="5394960" cy="1170432"/>
          </a:xfrm>
          <a:prstGeom prst="rect">
            <a:avLst/>
          </a:prstGeom>
          <a:solidFill>
            <a:srgbClr val="FFF3E8"/>
          </a:solidFill>
          <a:ln>
            <a:solidFill>
              <a:srgbClr val="C0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4453128"/>
            <a:ext cx="914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5A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V5 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818888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Polyphonic Voice Leading, 3성부(MELODY/BASS/INNER) 분리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157216"/>
            <a:ext cx="51206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 현재 사용 버전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132588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5A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Chord-based DP 구조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709928"/>
            <a:ext cx="5239512" cy="16459"/>
          </a:xfrm>
          <a:prstGeom prst="rect">
            <a:avLst/>
          </a:prstGeom>
          <a:solidFill>
            <a:srgbClr val="C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35040" y="1783080"/>
            <a:ext cx="5669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30ms 이내 음표를 화음 그룹으로 묶어 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221991"/>
            <a:ext cx="5669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State: 화음에 배정된 손가락 조합 (예: 1,3,5)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2660904"/>
            <a:ext cx="5669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Monotonicity 제약: 피치↑ = 손가락번호↑  → 꼬임 원천 차단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099815"/>
            <a:ext cx="5669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MAX_SPAN: 손가락 쌍별 최대 건반 간격 상수화  → 가동 범위 초과 배정 차단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3538728"/>
            <a:ext cx="5669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035040" y="3977639"/>
            <a:ext cx="5669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5A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비용 함수:  W_move + W_difficulty + W_anatomical + W_role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Polyphonic Leading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01_Fingering — </a:t>
            </a:r>
            <a:r>
              <a:rPr sz="1300" b="0" i="1" dirty="0" err="1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성부</a:t>
            </a:r>
            <a:r>
              <a:rPr sz="1300" b="0" i="1" dirty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300" b="0" i="1" dirty="0" err="1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분리</a:t>
            </a:r>
            <a:r>
              <a:rPr sz="1300" b="0" i="1" dirty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· </a:t>
            </a:r>
            <a:r>
              <a:rPr sz="1300" b="0" i="1" dirty="0" err="1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손목</a:t>
            </a:r>
            <a:r>
              <a:rPr sz="1300" b="0" i="1" dirty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300" b="0" i="1" dirty="0" err="1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모델링</a:t>
            </a:r>
            <a:r>
              <a:rPr sz="1300" b="0" i="1" dirty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· </a:t>
            </a:r>
            <a:r>
              <a:rPr sz="1300" b="0" i="1" dirty="0" err="1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실시간</a:t>
            </a:r>
            <a:r>
              <a:rPr sz="1300" b="0" i="1" dirty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300" b="0" i="1" dirty="0" err="1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시뮬레이터</a:t>
            </a:r>
            <a:endParaRPr sz="1300" b="0" i="1" dirty="0">
              <a:solidFill>
                <a:srgbClr val="99999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74552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5A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3성부 분리 구조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09928"/>
            <a:ext cx="10817352" cy="16459"/>
          </a:xfrm>
          <a:prstGeom prst="rect">
            <a:avLst/>
          </a:prstGeom>
          <a:solidFill>
            <a:srgbClr val="C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3657600" cy="1371600"/>
          </a:xfrm>
          <a:prstGeom prst="rect">
            <a:avLst/>
          </a:prstGeom>
          <a:solidFill>
            <a:srgbClr val="F5F5F5"/>
          </a:solidFill>
          <a:ln>
            <a:solidFill>
              <a:srgbClr val="C0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3657600" cy="91440"/>
          </a:xfrm>
          <a:prstGeom prst="rect">
            <a:avLst/>
          </a:prstGeom>
          <a:solidFill>
            <a:srgbClr val="C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1938528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5A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MELODY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77440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손가락: 4번, 5번 우선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724912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선율 Legato 확보, 엄지 사용 기피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783080"/>
            <a:ext cx="3657600" cy="1371600"/>
          </a:xfrm>
          <a:prstGeom prst="rect">
            <a:avLst/>
          </a:prstGeom>
          <a:solidFill>
            <a:srgbClr val="F5F5F5"/>
          </a:solidFill>
          <a:ln>
            <a:solidFill>
              <a:srgbClr val="1E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343400" y="1783080"/>
            <a:ext cx="3657600" cy="91440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80560" y="1938528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5F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377440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손가락: 5번, 1번 우선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2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저음역 안정 지지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783080"/>
            <a:ext cx="3657600" cy="1371600"/>
          </a:xfrm>
          <a:prstGeom prst="rect">
            <a:avLst/>
          </a:prstGeom>
          <a:solidFill>
            <a:srgbClr val="F5F5F5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229600" y="1783080"/>
            <a:ext cx="3657600" cy="9144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66760" y="1938528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INNER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377440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손가락: 2·3·4번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724912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화음 충전, 나머지 음 효율 배치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91840"/>
            <a:ext cx="112745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7200" y="3364992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C05A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손목</a:t>
            </a:r>
            <a:r>
              <a:rPr sz="1300" b="1" i="0" dirty="0">
                <a:solidFill>
                  <a:srgbClr val="C05A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300" b="1" i="0" dirty="0" err="1">
                <a:solidFill>
                  <a:srgbClr val="C05A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물리</a:t>
            </a:r>
            <a:r>
              <a:rPr sz="1300" b="1" i="0" dirty="0">
                <a:solidFill>
                  <a:srgbClr val="C05A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300" b="1" i="0" dirty="0" err="1">
                <a:solidFill>
                  <a:srgbClr val="C05A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모델링</a:t>
            </a:r>
            <a:endParaRPr sz="1300" b="1" i="0" dirty="0">
              <a:solidFill>
                <a:srgbClr val="C05A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57200" y="3749040"/>
            <a:ext cx="10817352" cy="16459"/>
          </a:xfrm>
          <a:prstGeom prst="rect">
            <a:avLst/>
          </a:prstGeom>
          <a:solidFill>
            <a:srgbClr val="C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4360" y="3913631"/>
            <a:ext cx="1828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5A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Wrist Yaw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3913631"/>
            <a:ext cx="685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손가락 건반 평균 위치 ↔ 손목 중심축 오프셋 계산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3913631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범위 ±35.0°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389120"/>
            <a:ext cx="11274552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94360" y="4480559"/>
            <a:ext cx="1828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C05A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Wrist Roll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4480559"/>
            <a:ext cx="685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엄지·새끼가 흑건 누를 때 손목 기울어짐 모사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4480559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범위 ±20.0°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029200"/>
            <a:ext cx="112745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57200" y="5102352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C05A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실시간</a:t>
            </a:r>
            <a:r>
              <a:rPr sz="1300" b="1" i="0" dirty="0">
                <a:solidFill>
                  <a:srgbClr val="C05A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300" b="1" i="0" dirty="0" err="1">
                <a:solidFill>
                  <a:srgbClr val="C05A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시뮬레이터</a:t>
            </a:r>
            <a:endParaRPr sz="1300" b="1" i="0" dirty="0">
              <a:solidFill>
                <a:srgbClr val="C05A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57200" y="5486400"/>
            <a:ext cx="10817352" cy="16459"/>
          </a:xfrm>
          <a:prstGeom prst="rect">
            <a:avLst/>
          </a:prstGeom>
          <a:solidFill>
            <a:srgbClr val="C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57200" y="5532120"/>
            <a:ext cx="11247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이벤트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MIDI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재생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— FPS 30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단위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동기화</a:t>
            </a:r>
            <a:endParaRPr sz="1200" b="0" i="0" dirty="0">
              <a:solidFill>
                <a:srgbClr val="2B2B2B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57200" y="5916168"/>
            <a:ext cx="11247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슬라이더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/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키보드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플레이어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지원</a:t>
            </a:r>
            <a:endParaRPr sz="1200" b="0" i="0" dirty="0">
              <a:solidFill>
                <a:srgbClr val="2B2B2B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57200" y="6300216"/>
            <a:ext cx="11247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이중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마디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시각화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안쪽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성부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역할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색상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/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끝단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손가락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번호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색상</a:t>
            </a:r>
            <a:endParaRPr sz="1200" b="0" i="0" dirty="0">
              <a:solidFill>
                <a:srgbClr val="2B2B2B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실시간 시뮬레이터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01_Fingering — Python/Pygame 시각화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74552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7" name="Picture 6" descr="Fingering_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48839"/>
            <a:ext cx="5394960" cy="3140687"/>
          </a:xfrm>
          <a:prstGeom prst="rect">
            <a:avLst/>
          </a:prstGeom>
        </p:spPr>
      </p:pic>
      <p:pic>
        <p:nvPicPr>
          <p:cNvPr id="8" name="Picture 7" descr="Fingering_ (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48839"/>
            <a:ext cx="5394960" cy="314068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136" y="5689044"/>
            <a:ext cx="112745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136" y="5762196"/>
            <a:ext cx="5394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왼손(파랑)·오른손(빨강) 골격이 건반에 매핑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296" y="5762196"/>
            <a:ext cx="5394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다중 손가락 동시 타건 + 하단 타임라인 슬라이더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70953-90E2-396B-4898-523706308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1F31AD-941F-621E-8733-4D0ECECBB034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19AA65-C2CC-1FF3-48B0-1087100F8344}"/>
              </a:ext>
            </a:extLst>
          </p:cNvPr>
          <p:cNvSpPr txBox="1"/>
          <p:nvPr/>
        </p:nvSpPr>
        <p:spPr>
          <a:xfrm>
            <a:off x="640080" y="27432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실시간 시뮬레이터 결과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8DA589-2B24-3F3C-F6A6-30A21762A827}"/>
              </a:ext>
            </a:extLst>
          </p:cNvPr>
          <p:cNvSpPr txBox="1"/>
          <p:nvPr/>
        </p:nvSpPr>
        <p:spPr>
          <a:xfrm>
            <a:off x="640080" y="896112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01_Fingering — Python/Pygame 시각화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656B49-DAD8-B3BC-E6B9-FEE352EDCD99}"/>
              </a:ext>
            </a:extLst>
          </p:cNvPr>
          <p:cNvSpPr/>
          <p:nvPr/>
        </p:nvSpPr>
        <p:spPr>
          <a:xfrm>
            <a:off x="457200" y="1234440"/>
            <a:ext cx="11274552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KakaoTalk_20260512_185159026">
            <a:hlinkClick r:id="" action="ppaction://media"/>
            <a:extLst>
              <a:ext uri="{FF2B5EF4-FFF2-40B4-BE49-F238E27FC236}">
                <a16:creationId xmlns:a16="http://schemas.microsoft.com/office/drawing/2014/main" id="{41F8ECA5-B374-9A56-6E4A-7BEEDEB7E26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74525" y="1483510"/>
            <a:ext cx="8314446" cy="461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121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2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442012" cy="10972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IK 기반 모션 생성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02_IK — 한승현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74552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설계 방향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09928"/>
            <a:ext cx="10817352" cy="16459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오프라인 사전 계산 방식 채택 — 수렴 속도보다 정확도·제약 처리 유연성 우선
DLS(Damped Least Squares) Jacobian IK 적용으로 특이점 발산 방지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DLS IK 연산 과정</a:t>
            </a:r>
          </a:p>
        </p:txBody>
      </p:sp>
      <p:sp>
        <p:nvSpPr>
          <p:cNvPr id="11" name="Rectangle 10"/>
          <p:cNvSpPr/>
          <p:nvPr/>
        </p:nvSpPr>
        <p:spPr>
          <a:xfrm flipV="1">
            <a:off x="457200" y="2944368"/>
            <a:ext cx="5394960" cy="73151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3063240"/>
            <a:ext cx="5394960" cy="5669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3630168"/>
            <a:ext cx="539496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3063240"/>
            <a:ext cx="45720" cy="566928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4360" y="3154680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① 건반 좌표 ↔ End-effector 오차 벡터 산출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24528"/>
            <a:ext cx="539496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57200" y="3657600"/>
            <a:ext cx="45720" cy="566928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3749039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② computeFK — 관절 글로벌 변환 갱신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51960"/>
            <a:ext cx="5394960" cy="5669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57200" y="4818888"/>
            <a:ext cx="539496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57200" y="4251960"/>
            <a:ext cx="45720" cy="566928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4360" y="4343400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③ 회전축 × 거리벡터 외적 → 3×9 Jacobian 행렬 구성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413248"/>
            <a:ext cx="539496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7200" y="4846320"/>
            <a:ext cx="45720" cy="566928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94360" y="4937760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④ JJᵀ + λ²I 역행렬로 특이점 발산 방지  (λ = 0.05)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440680"/>
            <a:ext cx="5394960" cy="5669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57200" y="6007608"/>
            <a:ext cx="539496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57200" y="5440680"/>
            <a:ext cx="45720" cy="566928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94360" y="5532120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⑤ tolerance 미만 수렴 시 반복 종료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132588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관절 ROM 제약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16752" y="1848871"/>
            <a:ext cx="5239512" cy="16459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016752" y="1876303"/>
            <a:ext cx="137160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016752" y="1894591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34072" y="1876303"/>
            <a:ext cx="118872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434072" y="1894591"/>
            <a:ext cx="1188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굴곡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68512" y="1876303"/>
            <a:ext cx="118872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668512" y="1894591"/>
            <a:ext cx="1188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02952" y="1876303"/>
            <a:ext cx="118872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902952" y="1894591"/>
            <a:ext cx="1188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내외전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16752" y="2744983"/>
            <a:ext cx="534924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062471" y="2342647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MCP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79792" y="2342647"/>
            <a:ext cx="109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0°–90°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14232" y="2342647"/>
            <a:ext cx="109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0°–20°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8672" y="2342647"/>
            <a:ext cx="109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±20°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16752" y="2772415"/>
            <a:ext cx="5349240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6016752" y="3247903"/>
            <a:ext cx="534924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062471" y="2845567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PIP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79792" y="2845567"/>
            <a:ext cx="109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0°–100°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14232" y="2845567"/>
            <a:ext cx="109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0°–10°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48672" y="2845567"/>
            <a:ext cx="109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16752" y="3750823"/>
            <a:ext cx="534924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062471" y="3348487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DIP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79792" y="3348487"/>
            <a:ext cx="109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0°–80°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14232" y="3348487"/>
            <a:ext cx="109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0°–5°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48672" y="3348487"/>
            <a:ext cx="109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16752" y="3778255"/>
            <a:ext cx="5349240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016752" y="4253743"/>
            <a:ext cx="534924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062471" y="3851407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엄지 CMC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79792" y="3851407"/>
            <a:ext cx="109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0°–50°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14232" y="3851407"/>
            <a:ext cx="109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0°–50°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48672" y="3851407"/>
            <a:ext cx="109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±40°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16752" y="4756663"/>
            <a:ext cx="534924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062471" y="4354327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엄지 MCP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79792" y="4354327"/>
            <a:ext cx="109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0°–60°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14232" y="4354327"/>
            <a:ext cx="109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48672" y="4354327"/>
            <a:ext cx="109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16752" y="4784095"/>
            <a:ext cx="5349240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6016752" y="5259583"/>
            <a:ext cx="534924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062471" y="4857247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엄지 IP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79792" y="4857247"/>
            <a:ext cx="109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0°–80°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14232" y="4857247"/>
            <a:ext cx="109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0°–5°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48672" y="4857247"/>
            <a:ext cx="109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6153912"/>
            <a:ext cx="112745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035040" y="6217920"/>
            <a:ext cx="5760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베지어 손목 궤적:  코드 전환 시 손목이 자연스럽게 들렸다 내려오는 2차 베지어 곡선 적용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IK 시각화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02_IK — Jacobian IK 손가락 골격 렌더링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74552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6492240"/>
            <a:ext cx="112745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71600" y="6537960"/>
            <a:ext cx="9418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C++ 레벨에서 구현된 DLS Jacobian IK 결과 — 각 손가락이 목표 건반 좌표로 수렴</a:t>
            </a:r>
          </a:p>
        </p:txBody>
      </p:sp>
      <p:pic>
        <p:nvPicPr>
          <p:cNvPr id="10" name="IK TEST">
            <a:hlinkClick r:id="" action="ppaction://media"/>
            <a:extLst>
              <a:ext uri="{FF2B5EF4-FFF2-40B4-BE49-F238E27FC236}">
                <a16:creationId xmlns:a16="http://schemas.microsoft.com/office/drawing/2014/main" id="{000542DF-100D-2A2F-BF7E-8F364512E50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4308" r="58390" b="20981"/>
          <a:stretch>
            <a:fillRect/>
          </a:stretch>
        </p:blipFill>
        <p:spPr>
          <a:xfrm>
            <a:off x="3396384" y="1625400"/>
            <a:ext cx="4214379" cy="41560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42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err="1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커스텀</a:t>
            </a:r>
            <a:r>
              <a:rPr sz="2800" b="1" i="0" dirty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800" b="1" i="0" dirty="0" err="1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셰이더</a:t>
            </a:r>
            <a:r>
              <a:rPr sz="2800" b="1" i="0" dirty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2800" b="1" i="0" dirty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테스트</a:t>
            </a:r>
            <a:endParaRPr sz="2800" b="1" i="0" dirty="0">
              <a:solidFill>
                <a:srgbClr val="1A1A1A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03_Skinning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74552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7" name="Picture 6" descr="UnrealPipeline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3749039" cy="48463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6291072"/>
            <a:ext cx="3749039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0040" y="6355080"/>
            <a:ext cx="37490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Stage 1 — Sobel 에지 검출</a:t>
            </a:r>
          </a:p>
        </p:txBody>
      </p:sp>
      <p:pic>
        <p:nvPicPr>
          <p:cNvPr id="10" name="Picture 9" descr="UnrealPipelineTest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1371600"/>
            <a:ext cx="3749039" cy="48463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270248" y="6291072"/>
            <a:ext cx="3749039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70248" y="6355080"/>
            <a:ext cx="37490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Stage 2 — 탈색 + 포스터라이즈</a:t>
            </a:r>
          </a:p>
        </p:txBody>
      </p:sp>
      <p:pic>
        <p:nvPicPr>
          <p:cNvPr id="13" name="Picture 12" descr="UnrealPipelineTest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371600"/>
            <a:ext cx="3749039" cy="48463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220456" y="6291072"/>
            <a:ext cx="3749039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0456" y="6355080"/>
            <a:ext cx="37490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Stage 3 — 패스스루 (원본 복원)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8399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Chaos Flesh PBD Skinning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03_Skinning — 곽경민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74552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A359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09928"/>
            <a:ext cx="10817352" cy="16459"/>
          </a:xfrm>
          <a:prstGeom prst="rect">
            <a:avLst/>
          </a:prstGeom>
          <a:solidFill>
            <a:srgbClr val="6A35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604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LBS의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Candy Wrapper Artifact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해소를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위해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UE5 FEM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소프트바디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시뮬레이션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적용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
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사면체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(Tetrahedral)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내부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볼륨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생성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→ 뼈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움직임에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따른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피부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자연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변형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구현</a:t>
            </a:r>
            <a:endParaRPr sz="1200" b="0" i="0" dirty="0">
              <a:solidFill>
                <a:srgbClr val="2B2B2B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112745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2724912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A359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손가락 콜리전 설계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10817352" cy="16459"/>
          </a:xfrm>
          <a:prstGeom prst="rect">
            <a:avLst/>
          </a:prstGeom>
          <a:solidFill>
            <a:srgbClr val="6A35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5394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손가락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마디별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콜리전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없으면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피부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관통</a:t>
            </a:r>
            <a:r>
              <a:rPr lang="en-US" sz="120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발생</a:t>
            </a:r>
            <a:endParaRPr sz="1200" b="0" i="0" dirty="0">
              <a:solidFill>
                <a:srgbClr val="2B2B2B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3639312"/>
            <a:ext cx="5394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단일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손바닥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바디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→ 각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마디에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Capsule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콜리전</a:t>
            </a:r>
            <a:r>
              <a:rPr sz="1200" b="0" i="0" dirty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200" b="0" i="0" dirty="0" err="1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추가</a:t>
            </a:r>
            <a:endParaRPr sz="1200" b="0" i="0" dirty="0">
              <a:solidFill>
                <a:srgbClr val="2B2B2B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4078224"/>
            <a:ext cx="5394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총 17개 관절 본에 적용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17136"/>
            <a:ext cx="5394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Capsule 선택 이유: Sphere 대비 관절 방향 충돌 정확도 우수</a:t>
            </a:r>
          </a:p>
        </p:txBody>
      </p:sp>
      <p:pic>
        <p:nvPicPr>
          <p:cNvPr id="17" name="Picture 16" descr="ChaosFlesh_ (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230" y="2120795"/>
            <a:ext cx="5107246" cy="35910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43600" y="5577840"/>
            <a:ext cx="5852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Physics Asset — 손가락 마디별 Capsule 콜리전 배치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Flesh Asset Dataflow 그래프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03_Skinning — 두 그래프로 분리 구성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74552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12471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A359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Dataflow ①  Geometry 생성 및 전처리</a:t>
            </a:r>
          </a:p>
        </p:txBody>
      </p:sp>
      <p:pic>
        <p:nvPicPr>
          <p:cNvPr id="8" name="Picture 7" descr="ChaosFlesh_ 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8603673" cy="19202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3749039"/>
            <a:ext cx="112745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3822191"/>
            <a:ext cx="112471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A359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Dataflow ②  시뮬레이션 제어 및 바인딩</a:t>
            </a:r>
          </a:p>
        </p:txBody>
      </p:sp>
      <p:pic>
        <p:nvPicPr>
          <p:cNvPr id="11" name="Picture 10" descr="ChaosFlesh_ (7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33672"/>
            <a:ext cx="8603673" cy="19202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57200" y="6263640"/>
            <a:ext cx="112745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6327648"/>
            <a:ext cx="11247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분리 이유:  Geometry 생성(고비용)은 사전 1회 수행 후 재사용 / 바인딩은 캐릭터별 독립 적용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Flesh 시뮬레이션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03_Skinning — 에디터 프리뷰 비교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74552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7" name="Picture 6" descr="ChaosFlesh_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22464"/>
            <a:ext cx="4551236" cy="34028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6126480"/>
            <a:ext cx="3749039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0040" y="6190488"/>
            <a:ext cx="37490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T-포즈 기본 상태</a:t>
            </a:r>
          </a:p>
        </p:txBody>
      </p:sp>
      <p:pic>
        <p:nvPicPr>
          <p:cNvPr id="10" name="Picture 9" descr="ChaosFlesh_ (5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575" y="1417320"/>
            <a:ext cx="3749039" cy="46634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270248" y="6126480"/>
            <a:ext cx="3749039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70248" y="6190488"/>
            <a:ext cx="37490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굴곡 — LBS 단독  (아티팩트 확인)</a:t>
            </a:r>
          </a:p>
        </p:txBody>
      </p:sp>
      <p:pic>
        <p:nvPicPr>
          <p:cNvPr id="13" name="Picture 12" descr="ChaosFlesh_ (3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371600"/>
            <a:ext cx="3749039" cy="46634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220456" y="6126480"/>
            <a:ext cx="3749039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0456" y="6190488"/>
            <a:ext cx="37490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굴곡 — Flesh 적용 후  (볼륨 보존)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470386"/>
            <a:ext cx="11274552" cy="332750"/>
          </a:xfrm>
          <a:prstGeom prst="rect">
            <a:avLst/>
          </a:prstGeom>
          <a:solidFill>
            <a:srgbClr val="FFEEEE"/>
          </a:solidFill>
          <a:ln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" y="6527049"/>
            <a:ext cx="11064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C0202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현재</a:t>
            </a:r>
            <a:r>
              <a:rPr sz="1100" b="0" i="0" dirty="0">
                <a:solidFill>
                  <a:srgbClr val="C0202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C0202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이슈</a:t>
            </a:r>
            <a:r>
              <a:rPr sz="1100" b="0" i="0" dirty="0">
                <a:solidFill>
                  <a:srgbClr val="C0202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 UE 5.6 ↔ 5.5 Flesh </a:t>
            </a:r>
            <a:r>
              <a:rPr sz="1100" b="0" i="0" dirty="0" err="1">
                <a:solidFill>
                  <a:srgbClr val="C0202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컴포넌트</a:t>
            </a:r>
            <a:r>
              <a:rPr sz="1100" b="0" i="0" dirty="0">
                <a:solidFill>
                  <a:srgbClr val="C0202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API </a:t>
            </a:r>
            <a:r>
              <a:rPr sz="1100" b="0" i="0" dirty="0" err="1">
                <a:solidFill>
                  <a:srgbClr val="C0202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변경으로</a:t>
            </a:r>
            <a:r>
              <a:rPr sz="1100" b="0" i="0" dirty="0">
                <a:solidFill>
                  <a:srgbClr val="C0202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C0202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블루프린트</a:t>
            </a:r>
            <a:r>
              <a:rPr sz="1100" b="0" i="0" dirty="0">
                <a:solidFill>
                  <a:srgbClr val="C0202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C0202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연동</a:t>
            </a:r>
            <a:r>
              <a:rPr sz="1100" b="0" i="0" dirty="0">
                <a:solidFill>
                  <a:srgbClr val="C0202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C0202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중단</a:t>
            </a:r>
            <a:r>
              <a:rPr sz="1100" b="0" i="0" dirty="0">
                <a:solidFill>
                  <a:srgbClr val="C0202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→ UE 5.5 </a:t>
            </a:r>
            <a:r>
              <a:rPr sz="1100" b="0" i="0" dirty="0" err="1">
                <a:solidFill>
                  <a:srgbClr val="C0202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다운그레이드</a:t>
            </a:r>
            <a:r>
              <a:rPr sz="1100" b="0" i="0" dirty="0">
                <a:solidFill>
                  <a:srgbClr val="C0202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C0202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검토</a:t>
            </a:r>
            <a:r>
              <a:rPr sz="1100" b="0" i="0" dirty="0">
                <a:solidFill>
                  <a:srgbClr val="C0202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향후 계획 및 결론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577840" cy="164592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45720" cy="1645920"/>
          </a:xfrm>
          <a:prstGeom prst="rect">
            <a:avLst/>
          </a:prstGeom>
          <a:solidFill>
            <a:srgbClr val="C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1435607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5A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01_Fingering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84248"/>
            <a:ext cx="521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복잡한 대위법 대응력 향상
UE5 JSON 데이터 테이블 임포터 개발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325880"/>
            <a:ext cx="5577840" cy="164592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55080" y="1325880"/>
            <a:ext cx="45720" cy="1645920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37960" y="1435607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02_IK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84248"/>
            <a:ext cx="521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UE5 MetaHuman 손 모델 IK 파이프라인 연동
다중 손가락 충돌 방지 로직 통합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54680"/>
            <a:ext cx="5577840" cy="164592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57200" y="3154680"/>
            <a:ext cx="45720" cy="1645920"/>
          </a:xfrm>
          <a:prstGeom prst="rect">
            <a:avLst/>
          </a:prstGeom>
          <a:solidFill>
            <a:srgbClr val="6A35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A359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03_Skinning (셰이더)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13048"/>
            <a:ext cx="521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PP 후크 → 정점 처리 단계 전환
LBS/DQS 통합 컴퓨트 셰이더 구현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3154680"/>
            <a:ext cx="5577840" cy="164592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355080" y="3154680"/>
            <a:ext cx="45720" cy="1645920"/>
          </a:xfrm>
          <a:prstGeom prst="rect">
            <a:avLst/>
          </a:prstGeom>
          <a:solidFill>
            <a:srgbClr val="6A35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37960" y="3264408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A359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03_Skinning (Flesh)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813048"/>
            <a:ext cx="521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UE 5.5 전환 후 BP 연동 완성
Tension Map 핏줄·주름 렌더링 구현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074920"/>
            <a:ext cx="112745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" y="5138928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5F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522976"/>
            <a:ext cx="10817352" cy="16459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7200" y="5596128"/>
            <a:ext cx="11247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01_Fingering:  V5 Polyphonic 엔진 완성 — 3성부 분리·ROM 기반 운지법 JSON 출력 안정화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925312"/>
            <a:ext cx="11247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02_IK:  DLS Jacobian IK 알고리즘 검증 완료 — UE5 파이프라인 연동 진행 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254496"/>
            <a:ext cx="11247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03_Skinning (셰이더):  SVE·RDG·HLSL 4개 핵심 기술 사전 검증 완료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83680"/>
            <a:ext cx="11247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03_Skinning (Flesh):  Dataflow 구성 완료, 버전 이슈 해소 후 블루프린트 연동 예정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1189</Words>
  <Application>Microsoft Office PowerPoint</Application>
  <PresentationFormat>사용자 지정</PresentationFormat>
  <Paragraphs>224</Paragraphs>
  <Slides>16</Slides>
  <Notes>0</Notes>
  <HiddenSlides>0</HiddenSlides>
  <MMClips>2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Calibri</vt:lpstr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정근녕</cp:lastModifiedBy>
  <cp:revision>45</cp:revision>
  <dcterms:created xsi:type="dcterms:W3CDTF">2013-01-27T09:14:16Z</dcterms:created>
  <dcterms:modified xsi:type="dcterms:W3CDTF">2026-05-12T10:10:32Z</dcterms:modified>
  <cp:category/>
</cp:coreProperties>
</file>