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76" r:id="rId10"/>
    <p:sldId id="263" r:id="rId11"/>
    <p:sldId id="277" r:id="rId12"/>
    <p:sldId id="278" r:id="rId13"/>
    <p:sldId id="264" r:id="rId14"/>
    <p:sldId id="265" r:id="rId15"/>
    <p:sldId id="280" r:id="rId16"/>
    <p:sldId id="266" r:id="rId17"/>
    <p:sldId id="279" r:id="rId18"/>
    <p:sldId id="282" r:id="rId19"/>
    <p:sldId id="267" r:id="rId20"/>
    <p:sldId id="268" r:id="rId21"/>
    <p:sldId id="281" r:id="rId22"/>
    <p:sldId id="283" r:id="rId23"/>
    <p:sldId id="269" r:id="rId24"/>
    <p:sldId id="270" r:id="rId25"/>
    <p:sldId id="285" r:id="rId26"/>
    <p:sldId id="286" r:id="rId27"/>
    <p:sldId id="287" r:id="rId28"/>
    <p:sldId id="284" r:id="rId29"/>
    <p:sldId id="271" r:id="rId30"/>
    <p:sldId id="273" r:id="rId31"/>
    <p:sldId id="274" r:id="rId32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96" autoAdjust="0"/>
  </p:normalViewPr>
  <p:slideViewPr>
    <p:cSldViewPr snapToGrid="0" snapToObjects="1">
      <p:cViewPr varScale="1">
        <p:scale>
          <a:sx n="97" d="100"/>
          <a:sy n="97" d="100"/>
        </p:scale>
        <p:origin x="11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2880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999999"/>
                </a:solidFill>
                <a:latin typeface="Pretendard"/>
              </a:rPr>
              <a:t>졸업프로젝트</a:t>
            </a:r>
            <a:r>
              <a:rPr sz="1100" b="0" i="0" dirty="0">
                <a:solidFill>
                  <a:srgbClr val="999999"/>
                </a:solidFill>
                <a:latin typeface="Pretendard"/>
              </a:rPr>
              <a:t> 3201  ·  2팀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936000"/>
            <a:ext cx="10620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피아노</a:t>
            </a:r>
            <a:r>
              <a:rPr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연주</a:t>
            </a:r>
            <a:r>
              <a:rPr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시뮬레이션을</a:t>
            </a:r>
            <a:r>
              <a:rPr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위한</a:t>
            </a:r>
            <a:endParaRPr sz="2400" b="1" i="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/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</a:t>
            </a:r>
            <a:r>
              <a:rPr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altLang="ko-KR" sz="2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</a:t>
            </a:r>
            <a:r>
              <a:rPr lang="ko-KR" altLang="en-US" sz="24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애니메이션</a:t>
            </a:r>
            <a:r>
              <a:rPr lang="en-US"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물리</a:t>
            </a:r>
            <a:r>
              <a:rPr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렌더링</a:t>
            </a:r>
            <a:r>
              <a:rPr sz="2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lang="en-US" sz="2400" b="1" i="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/>
            <a:r>
              <a:rPr lang="en-US" sz="40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PIANO HAND SIMULATOR</a:t>
            </a:r>
            <a:endParaRPr sz="4000" b="1" i="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720000" y="3311999"/>
            <a:ext cx="1076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20000" y="3528000"/>
            <a:ext cx="79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333333"/>
                </a:solidFill>
                <a:latin typeface="Pretendard"/>
              </a:rPr>
              <a:t>정근녕</a:t>
            </a:r>
            <a:r>
              <a:rPr sz="1600" b="1" i="0" dirty="0">
                <a:solidFill>
                  <a:srgbClr val="333333"/>
                </a:solidFill>
                <a:latin typeface="Pretendard"/>
              </a:rPr>
              <a:t>  ·  </a:t>
            </a:r>
            <a:r>
              <a:rPr sz="1600" b="1" i="0" dirty="0" err="1">
                <a:solidFill>
                  <a:srgbClr val="333333"/>
                </a:solidFill>
                <a:latin typeface="Pretendard"/>
              </a:rPr>
              <a:t>한승현</a:t>
            </a:r>
            <a:r>
              <a:rPr sz="1600" b="1" i="0" dirty="0">
                <a:solidFill>
                  <a:srgbClr val="333333"/>
                </a:solidFill>
                <a:latin typeface="Pretendard"/>
              </a:rPr>
              <a:t>  ·  </a:t>
            </a:r>
            <a:r>
              <a:rPr sz="1600" b="1" i="0" dirty="0" err="1">
                <a:solidFill>
                  <a:srgbClr val="333333"/>
                </a:solidFill>
                <a:latin typeface="Pretendard"/>
              </a:rPr>
              <a:t>이수민</a:t>
            </a:r>
            <a:r>
              <a:rPr sz="1600" b="1" i="0" dirty="0">
                <a:solidFill>
                  <a:srgbClr val="333333"/>
                </a:solidFill>
                <a:latin typeface="Pretendard"/>
              </a:rPr>
              <a:t>  ·  </a:t>
            </a:r>
            <a:r>
              <a:rPr sz="1600" b="1" i="0" dirty="0" err="1">
                <a:solidFill>
                  <a:srgbClr val="333333"/>
                </a:solidFill>
                <a:latin typeface="Pretendard"/>
              </a:rPr>
              <a:t>곽경민</a:t>
            </a:r>
            <a:endParaRPr sz="1600" b="1" i="0" dirty="0">
              <a:solidFill>
                <a:srgbClr val="333333"/>
              </a:solidFill>
              <a:latin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목차</a:t>
            </a:r>
            <a:endParaRPr sz="4000" b="1" i="0" dirty="0">
              <a:solidFill>
                <a:srgbClr val="14141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728000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4000" y="1763999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0000" y="2376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0000" y="2880000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4000" y="2916000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b="1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sz="2000" b="1" i="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720000" y="3528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4031999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4000" y="4067999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Jacobian IK</a:t>
            </a:r>
            <a:r>
              <a:rPr lang="en-US"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sz="2000" b="1" i="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20000" y="4680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0000" y="5184000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4000" y="5220000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Chaos Flesh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물리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시뮬레이션</a:t>
            </a:r>
            <a:endParaRPr sz="2000" b="1" i="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20000" y="5832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80000" y="1728000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3999" y="1763999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텐션맵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&amp;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커스텀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셰이더</a:t>
            </a:r>
            <a:endParaRPr sz="2000" b="1" i="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480000" y="2376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80000" y="2880000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3999" y="2916000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파트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간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인터페이스</a:t>
            </a:r>
            <a:endParaRPr sz="2000" b="1" i="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480000" y="3528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80000" y="4031999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3999" y="4067999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sz="20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sz="20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성능</a:t>
            </a:r>
            <a:endParaRPr sz="2000" b="1" i="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480000" y="4680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80000" y="5184000"/>
            <a:ext cx="7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C0C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3999" y="5220000"/>
            <a:ext cx="468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2학기 계획 &amp; 결론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80000" y="5832000"/>
            <a:ext cx="522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프로젝트 개요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620000"/>
            <a:ext cx="52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141414"/>
                </a:solidFill>
                <a:latin typeface="Pretendard"/>
              </a:rPr>
              <a:t>기존 기술의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980000"/>
            <a:ext cx="5220000" cy="115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2088000"/>
            <a:ext cx="486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33"/>
                </a:solidFill>
                <a:latin typeface="Pretendard"/>
              </a:rPr>
              <a:t>기존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스키닝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기술의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한계</a:t>
            </a:r>
            <a:endParaRPr sz="1100" b="0" i="0" dirty="0">
              <a:solidFill>
                <a:srgbClr val="333333"/>
              </a:solidFill>
              <a:latin typeface="Pretendard"/>
            </a:endParaRPr>
          </a:p>
          <a:p>
            <a:pPr algn="l"/>
            <a:r>
              <a:rPr sz="1100" b="0" i="0" dirty="0" err="1">
                <a:solidFill>
                  <a:srgbClr val="333333"/>
                </a:solidFill>
                <a:latin typeface="Pretendard"/>
              </a:rPr>
              <a:t>손가락을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굽힐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때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관절이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뭉개지고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부피가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사라지는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문제</a:t>
            </a:r>
            <a:endParaRPr sz="1100" b="0" i="0" dirty="0">
              <a:solidFill>
                <a:srgbClr val="333333"/>
              </a:solidFill>
              <a:latin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0000" y="3240000"/>
            <a:ext cx="5220000" cy="115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0000" y="3348000"/>
            <a:ext cx="486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33"/>
                </a:solidFill>
                <a:latin typeface="Pretendard"/>
              </a:rPr>
              <a:t>음악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연주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흐름과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손의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움직임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제약을</a:t>
            </a:r>
            <a:endParaRPr sz="1100" b="0" i="0" dirty="0">
              <a:solidFill>
                <a:srgbClr val="333333"/>
              </a:solidFill>
              <a:latin typeface="Pretendard"/>
            </a:endParaRPr>
          </a:p>
          <a:p>
            <a:pPr algn="l"/>
            <a:r>
              <a:rPr sz="1100" b="0" i="0" dirty="0" err="1">
                <a:solidFill>
                  <a:srgbClr val="333333"/>
                </a:solidFill>
                <a:latin typeface="Pretendard"/>
              </a:rPr>
              <a:t>동시에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고려하는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운지법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자동화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도구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없음</a:t>
            </a:r>
            <a:endParaRPr sz="1100" b="0" i="0" dirty="0">
              <a:solidFill>
                <a:srgbClr val="333333"/>
              </a:solidFill>
              <a:latin typeface="Pretendar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0000" y="4500000"/>
            <a:ext cx="5220000" cy="1152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" y="4608000"/>
            <a:ext cx="486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악보 파일(MIDI)에서 최종 렌더링 영상까지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이어지는 통합 자동화 시스템의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1620000"/>
            <a:ext cx="55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41414"/>
                </a:solidFill>
                <a:latin typeface="Pretendard"/>
              </a:rPr>
              <a:t>본 </a:t>
            </a:r>
            <a:r>
              <a:rPr b="1" i="0" dirty="0" err="1">
                <a:solidFill>
                  <a:srgbClr val="141414"/>
                </a:solidFill>
                <a:latin typeface="Pretendard"/>
              </a:rPr>
              <a:t>프로젝트</a:t>
            </a:r>
            <a:r>
              <a:rPr b="1" i="0" dirty="0">
                <a:solidFill>
                  <a:srgbClr val="141414"/>
                </a:solidFill>
                <a:latin typeface="Pretendard"/>
              </a:rPr>
              <a:t> </a:t>
            </a:r>
            <a:r>
              <a:rPr b="1" i="0" dirty="0" err="1">
                <a:solidFill>
                  <a:srgbClr val="141414"/>
                </a:solidFill>
                <a:latin typeface="Pretendard"/>
              </a:rPr>
              <a:t>목표</a:t>
            </a:r>
            <a:endParaRPr b="1" i="0" dirty="0">
              <a:solidFill>
                <a:srgbClr val="141414"/>
              </a:solidFill>
              <a:latin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0000" y="1980000"/>
            <a:ext cx="5580000" cy="190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80000" y="2088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4"/>
                </a:solidFill>
                <a:latin typeface="Pretendard"/>
              </a:rPr>
              <a:t>MIDI-to-Motion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0" y="2700000"/>
            <a:ext cx="52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음악 파일을 입력받아 자연스러운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손 동작 애니메이션을 자동으로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0000" y="4068000"/>
            <a:ext cx="5580000" cy="190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80000" y="4176000"/>
            <a:ext cx="52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4"/>
                </a:solidFill>
                <a:latin typeface="Pretendard"/>
              </a:rPr>
              <a:t>High-Fidelity Rendering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0" y="4788000"/>
            <a:ext cx="52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물리 기반 피부 변형 시뮬레이션으로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주름·핏줄까지 사실감 있게 렌더링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전체 시스템 파이프라인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980000"/>
            <a:ext cx="1980000" cy="144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540000" y="2268000"/>
            <a:ext cx="176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141414"/>
                </a:solidFill>
                <a:latin typeface="Pretendard"/>
              </a:rPr>
              <a:t>MIDI</a:t>
            </a:r>
          </a:p>
          <a:p>
            <a:pPr algn="ctr"/>
            <a:r>
              <a:rPr sz="2000" b="1" i="0" dirty="0" err="1">
                <a:solidFill>
                  <a:srgbClr val="141414"/>
                </a:solidFill>
                <a:latin typeface="Pretendard"/>
              </a:rPr>
              <a:t>입력</a:t>
            </a:r>
            <a:endParaRPr sz="2000" b="1" i="0" dirty="0">
              <a:solidFill>
                <a:srgbClr val="141414"/>
              </a:solidFill>
              <a:latin typeface="Pretendar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20000" y="1980000"/>
            <a:ext cx="1980000" cy="144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2628000" y="2268000"/>
            <a:ext cx="176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01</a:t>
            </a:r>
          </a:p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운지법 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000" y="2963060"/>
            <a:ext cx="176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Pretendard"/>
              </a:rPr>
              <a:t>정근녕</a:t>
            </a:r>
          </a:p>
          <a:p>
            <a:pPr algn="ctr"/>
            <a:r>
              <a:rPr sz="1200" b="0" i="0">
                <a:solidFill>
                  <a:srgbClr val="999999"/>
                </a:solidFill>
                <a:latin typeface="Pretendard"/>
              </a:rPr>
              <a:t>Python · DP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0" y="1980000"/>
            <a:ext cx="1980000" cy="144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4788000" y="2268000"/>
            <a:ext cx="176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02</a:t>
            </a:r>
          </a:p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IK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8000" y="2963060"/>
            <a:ext cx="176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Pretendard"/>
              </a:rPr>
              <a:t>한승현</a:t>
            </a:r>
          </a:p>
          <a:p>
            <a:pPr algn="ctr"/>
            <a:r>
              <a:rPr sz="1200" b="0" i="0">
                <a:solidFill>
                  <a:srgbClr val="999999"/>
                </a:solidFill>
                <a:latin typeface="Pretendard"/>
              </a:rPr>
              <a:t>C++ · Vulkan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0" y="1980000"/>
            <a:ext cx="1980000" cy="144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4" name="TextBox 13"/>
          <p:cNvSpPr txBox="1"/>
          <p:nvPr/>
        </p:nvSpPr>
        <p:spPr>
          <a:xfrm>
            <a:off x="6948000" y="2268000"/>
            <a:ext cx="176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03</a:t>
            </a:r>
          </a:p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Skinning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8000" y="2963060"/>
            <a:ext cx="176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99999"/>
                </a:solidFill>
                <a:latin typeface="Pretendard"/>
              </a:rPr>
              <a:t>곽경민·이수민</a:t>
            </a:r>
          </a:p>
          <a:p>
            <a:pPr algn="ctr"/>
            <a:r>
              <a:rPr sz="1200" b="0" i="0">
                <a:solidFill>
                  <a:srgbClr val="999999"/>
                </a:solidFill>
                <a:latin typeface="Pretendard"/>
              </a:rPr>
              <a:t>UE5 · PBD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8000" y="1980000"/>
            <a:ext cx="1980000" cy="144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7" name="TextBox 16"/>
          <p:cNvSpPr txBox="1"/>
          <p:nvPr/>
        </p:nvSpPr>
        <p:spPr>
          <a:xfrm>
            <a:off x="9216000" y="2268000"/>
            <a:ext cx="176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04</a:t>
            </a:r>
          </a:p>
          <a:p>
            <a:pPr algn="ctr"/>
            <a:r>
              <a:rPr sz="2000" b="1" i="0">
                <a:solidFill>
                  <a:srgbClr val="141414"/>
                </a:solidFill>
                <a:latin typeface="Pretendard"/>
              </a:rPr>
              <a:t>Main / 렌더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6000" y="2963060"/>
            <a:ext cx="176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999999"/>
                </a:solidFill>
                <a:latin typeface="Pretendard"/>
              </a:rPr>
              <a:t>이수민</a:t>
            </a:r>
            <a:endParaRPr sz="1200" b="0" i="0" dirty="0">
              <a:solidFill>
                <a:srgbClr val="999999"/>
              </a:solidFill>
              <a:latin typeface="Pretendard"/>
            </a:endParaRPr>
          </a:p>
          <a:p>
            <a:pPr algn="ctr"/>
            <a:r>
              <a:rPr sz="1200" b="0" i="0" dirty="0">
                <a:solidFill>
                  <a:srgbClr val="999999"/>
                </a:solidFill>
                <a:latin typeface="Pretendard"/>
              </a:rPr>
              <a:t>SVE · M</a:t>
            </a:r>
            <a:r>
              <a:rPr lang="en-US" sz="1200" b="0" i="0" dirty="0">
                <a:solidFill>
                  <a:srgbClr val="999999"/>
                </a:solidFill>
                <a:latin typeface="Pretendard"/>
              </a:rPr>
              <a:t>R</a:t>
            </a:r>
            <a:r>
              <a:rPr sz="1200" b="0" i="0" dirty="0">
                <a:solidFill>
                  <a:srgbClr val="999999"/>
                </a:solidFill>
                <a:latin typeface="Pretendard"/>
              </a:rPr>
              <a:t>Q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BF6BD3F-718A-4D56-9CEF-9C54E211446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463619" y="4041850"/>
            <a:ext cx="11146381" cy="9252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DE6EA65-B8F0-406A-9092-283B2E93A720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861823" y="4971404"/>
            <a:ext cx="9297356" cy="11413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1 — 지능형 운지법 결정 엔진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정근녕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44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버전 진화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80000"/>
            <a:ext cx="1800000" cy="120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8000" y="2088000"/>
            <a:ext cx="15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4"/>
                </a:solidFill>
                <a:latin typeface="Pretendard"/>
              </a:rPr>
              <a:t>V1 /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88" y="2480728"/>
            <a:ext cx="1584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개별 음표 단위 탐색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기본 비용 함수 설계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손목 방향 힌트 추가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196" y="3278093"/>
            <a:ext cx="1800000" cy="120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8196" y="3386093"/>
            <a:ext cx="158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1414"/>
                </a:solidFill>
                <a:latin typeface="Pretendard"/>
              </a:rPr>
              <a:t>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196" y="3778821"/>
            <a:ext cx="1584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66666"/>
                </a:solidFill>
                <a:latin typeface="Pretendard"/>
              </a:rPr>
              <a:t>화음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묶음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단위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탐색</a:t>
            </a:r>
            <a:endParaRPr sz="1000" b="0" i="0" dirty="0">
              <a:solidFill>
                <a:srgbClr val="666666"/>
              </a:solidFill>
              <a:latin typeface="Pretendard"/>
            </a:endParaRPr>
          </a:p>
          <a:p>
            <a:pPr algn="l"/>
            <a:r>
              <a:rPr sz="1000" b="0" i="0" dirty="0" err="1">
                <a:solidFill>
                  <a:srgbClr val="666666"/>
                </a:solidFill>
                <a:latin typeface="Pretendard"/>
              </a:rPr>
              <a:t>손가락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간격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제약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적용</a:t>
            </a:r>
            <a:endParaRPr sz="1000" b="0" i="0" dirty="0">
              <a:solidFill>
                <a:srgbClr val="666666"/>
              </a:solidFill>
              <a:latin typeface="Pretendard"/>
            </a:endParaRPr>
          </a:p>
          <a:p>
            <a:pPr algn="l"/>
            <a:r>
              <a:rPr sz="1000" b="0" i="0" dirty="0" err="1">
                <a:solidFill>
                  <a:srgbClr val="666666"/>
                </a:solidFill>
                <a:latin typeface="Pretendard"/>
              </a:rPr>
              <a:t>손목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각도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자동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산출</a:t>
            </a:r>
            <a:endParaRPr sz="1000" b="0" i="0" dirty="0">
              <a:solidFill>
                <a:srgbClr val="666666"/>
              </a:solidFill>
              <a:latin typeface="Pretendar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8865" y="4598769"/>
            <a:ext cx="1800000" cy="16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865" y="4706769"/>
            <a:ext cx="158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41414"/>
                </a:solidFill>
                <a:latin typeface="Pretendard"/>
              </a:rPr>
              <a:t>V5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865" y="5318769"/>
            <a:ext cx="1584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66666"/>
                </a:solidFill>
                <a:latin typeface="Pretendard"/>
              </a:rPr>
              <a:t>성부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분리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분석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도입</a:t>
            </a:r>
            <a:endParaRPr sz="1000" b="0" i="0" dirty="0">
              <a:solidFill>
                <a:srgbClr val="666666"/>
              </a:solidFill>
              <a:latin typeface="Pretendard"/>
            </a:endParaRPr>
          </a:p>
          <a:p>
            <a:pPr algn="l"/>
            <a:r>
              <a:rPr sz="1000" b="0" i="0" dirty="0" err="1">
                <a:solidFill>
                  <a:srgbClr val="666666"/>
                </a:solidFill>
                <a:latin typeface="Pretendard"/>
              </a:rPr>
              <a:t>멜로디·저음·내성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역할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분류</a:t>
            </a:r>
            <a:endParaRPr sz="1000" b="0" i="0" dirty="0">
              <a:solidFill>
                <a:srgbClr val="666666"/>
              </a:solidFill>
              <a:latin typeface="Pretendard"/>
            </a:endParaRPr>
          </a:p>
          <a:p>
            <a:pPr algn="l"/>
            <a:r>
              <a:rPr sz="1000" b="0" i="0" dirty="0" err="1">
                <a:solidFill>
                  <a:srgbClr val="666666"/>
                </a:solidFill>
                <a:latin typeface="Pretendard"/>
              </a:rPr>
              <a:t>왼손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방향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오류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수정</a:t>
            </a:r>
            <a:endParaRPr sz="1000" b="0" i="0" dirty="0">
              <a:solidFill>
                <a:srgbClr val="666666"/>
              </a:solidFill>
              <a:latin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80000" y="162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처리 파이프라인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80000" y="1980000"/>
            <a:ext cx="5220000" cy="75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60000" y="21420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① MIDI Parser  (Format 0/1 지원)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8000" y="2700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Pretendard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80000" y="2844000"/>
            <a:ext cx="5220000" cy="75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0000" y="30060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② 양손 분리  (피치 밀도 최저점)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8000" y="3564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Pretendard"/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0" y="3708000"/>
            <a:ext cx="5220000" cy="75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60000" y="38700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③ Chord-based DP Solver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8000" y="4428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Pretendard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80000" y="4572000"/>
            <a:ext cx="5220000" cy="75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0000" y="4733999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④ 손목 물리 모델링  (Yaw / Roll)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8000" y="5292000"/>
            <a:ext cx="43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  <a:latin typeface="Pretendard"/>
              </a:rPr>
              <a:t>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0" y="5436000"/>
            <a:ext cx="5220000" cy="75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60000" y="5598000"/>
            <a:ext cx="486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⑤ JSON 출력  →  IK 입력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D3A4746-81CB-41C5-87BC-D313EAAB4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16013" y="2550765"/>
            <a:ext cx="3693507" cy="30073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1 — 비용 함수 &amp; Polyphonic Voice Leading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48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9개 평가 기준을 합산하여 가장 자연스러운 손가락 배정을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980000"/>
            <a:ext cx="5580000" cy="71999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4000" y="2088000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손 간격 제약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0" y="2088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Pretendard"/>
              </a:rPr>
              <a:t>+5,000 / 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89" y="2394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손가락 간격이 실제 가동 범위를 초과하면 차단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2828617"/>
            <a:ext cx="5580000" cy="71999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4000" y="2936617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손가락 교차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0" y="2936617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Pretendard"/>
              </a:rPr>
              <a:t>+2,000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89" y="3242617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엄지 외 손가락이 서로 엇갈리는 배정 차단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0000" y="3667747"/>
            <a:ext cx="5580000" cy="71999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000" y="3775747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동시 재사용 금지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0" y="3775747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Pretendard"/>
              </a:rPr>
              <a:t>+2,500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89" y="4081747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동시에 누르는 음에 같은 손가락 배정 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1980000"/>
            <a:ext cx="5580000" cy="71999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3999" y="2088000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레가토 연속성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0000" y="2088000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Pretendard"/>
              </a:rPr>
              <a:t>−20 (보상)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3588" y="2394000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이웃 화음에서 멜로디가 자연스럽게 이어질 때 보상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2828617"/>
            <a:ext cx="5580000" cy="71999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3999" y="2936617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성부별 선호도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00" y="2936617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Pretendard"/>
              </a:rPr>
              <a:t>−12 ~ +20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3588" y="3242617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멜로디·저음·내성 역할에 맞는 손가락 우선 배정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3667747"/>
            <a:ext cx="5580000" cy="71999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3999" y="3775747"/>
            <a:ext cx="30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아르페지오 방향성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00" y="3775747"/>
            <a:ext cx="19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666666"/>
                </a:solidFill>
                <a:latin typeface="Pretendard"/>
              </a:rPr>
              <a:t>+35 / +60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3588" y="4081747"/>
            <a:ext cx="522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66666"/>
                </a:solidFill>
                <a:latin typeface="Pretendard"/>
              </a:rPr>
              <a:t>아르페지오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진행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방향에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맞게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손가락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순서</a:t>
            </a:r>
            <a:r>
              <a:rPr sz="10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/>
              </a:rPr>
              <a:t>유도</a:t>
            </a:r>
            <a:endParaRPr sz="1000" b="0" i="0" dirty="0">
              <a:solidFill>
                <a:srgbClr val="666666"/>
              </a:solidFill>
              <a:latin typeface="Pretendard"/>
            </a:endParaRP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634904" y="5107484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9999" y="4424666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  <a:latin typeface="Pretendard"/>
              </a:rPr>
              <a:t>성부별 손가락 전략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4735085"/>
            <a:ext cx="370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333333"/>
                </a:solidFill>
                <a:latin typeface="Pretendard"/>
              </a:rPr>
              <a:t>멜로디</a:t>
            </a:r>
            <a:r>
              <a:rPr sz="900" b="0" i="0" dirty="0">
                <a:solidFill>
                  <a:srgbClr val="333333"/>
                </a:solidFill>
                <a:latin typeface="Pretendard"/>
              </a:rPr>
              <a:t> (MELODY)  |  </a:t>
            </a:r>
            <a:r>
              <a:rPr sz="900" b="0" i="0" dirty="0" err="1">
                <a:solidFill>
                  <a:srgbClr val="333333"/>
                </a:solidFill>
                <a:latin typeface="Pretendard"/>
              </a:rPr>
              <a:t>약지·새끼손가락</a:t>
            </a:r>
            <a:r>
              <a:rPr sz="9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900" b="0" i="0" dirty="0" err="1">
                <a:solidFill>
                  <a:srgbClr val="333333"/>
                </a:solidFill>
                <a:latin typeface="Pretendard"/>
              </a:rPr>
              <a:t>우선</a:t>
            </a:r>
            <a:r>
              <a:rPr sz="900" b="0" i="0" dirty="0">
                <a:solidFill>
                  <a:srgbClr val="333333"/>
                </a:solidFill>
                <a:latin typeface="Pretendard"/>
              </a:rPr>
              <a:t>  /  </a:t>
            </a:r>
            <a:r>
              <a:rPr sz="900" b="0" i="0" dirty="0" err="1">
                <a:solidFill>
                  <a:srgbClr val="333333"/>
                </a:solidFill>
                <a:latin typeface="Pretendard"/>
              </a:rPr>
              <a:t>엄지</a:t>
            </a:r>
            <a:r>
              <a:rPr sz="9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900" b="0" i="0" dirty="0" err="1">
                <a:solidFill>
                  <a:srgbClr val="333333"/>
                </a:solidFill>
                <a:latin typeface="Pretendard"/>
              </a:rPr>
              <a:t>기피</a:t>
            </a:r>
            <a:r>
              <a:rPr sz="900" b="0" i="0" dirty="0">
                <a:solidFill>
                  <a:srgbClr val="333333"/>
                </a:solidFill>
                <a:latin typeface="Pretendard"/>
              </a:rPr>
              <a:t>  /  </a:t>
            </a:r>
            <a:r>
              <a:rPr sz="900" b="0" i="0" dirty="0" err="1">
                <a:solidFill>
                  <a:srgbClr val="333333"/>
                </a:solidFill>
                <a:latin typeface="Pretendard"/>
              </a:rPr>
              <a:t>선율</a:t>
            </a:r>
            <a:r>
              <a:rPr sz="9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900" b="0" i="0" dirty="0" err="1">
                <a:solidFill>
                  <a:srgbClr val="333333"/>
                </a:solidFill>
                <a:latin typeface="Pretendard"/>
              </a:rPr>
              <a:t>연속성</a:t>
            </a:r>
            <a:r>
              <a:rPr sz="9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900" b="0" i="0" dirty="0" err="1">
                <a:solidFill>
                  <a:srgbClr val="333333"/>
                </a:solidFill>
                <a:latin typeface="Pretendard"/>
              </a:rPr>
              <a:t>보상</a:t>
            </a:r>
            <a:endParaRPr sz="900" b="0" i="0" dirty="0">
              <a:solidFill>
                <a:srgbClr val="333333"/>
              </a:solidFill>
              <a:latin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20000" y="4735085"/>
            <a:ext cx="37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저음 (BASS)  |  왼손 새끼·오른손 엄지 우선  /  저음역 안정적 지지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2000" y="4751582"/>
            <a:ext cx="370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333333"/>
                </a:solidFill>
                <a:latin typeface="Pretendard"/>
              </a:rPr>
              <a:t>내성</a:t>
            </a:r>
            <a:r>
              <a:rPr sz="1000" b="0" i="0" dirty="0">
                <a:solidFill>
                  <a:srgbClr val="333333"/>
                </a:solidFill>
                <a:latin typeface="Pretendard"/>
              </a:rPr>
              <a:t> (INNER)  |  </a:t>
            </a:r>
            <a:r>
              <a:rPr sz="1000" b="0" i="0" dirty="0" err="1">
                <a:solidFill>
                  <a:srgbClr val="333333"/>
                </a:solidFill>
                <a:latin typeface="Pretendard"/>
              </a:rPr>
              <a:t>검지·중지·약지</a:t>
            </a:r>
            <a:r>
              <a:rPr sz="1000" b="0" i="0" dirty="0">
                <a:solidFill>
                  <a:srgbClr val="333333"/>
                </a:solidFill>
                <a:latin typeface="Pretendard"/>
              </a:rPr>
              <a:t>  /  </a:t>
            </a:r>
            <a:r>
              <a:rPr sz="1000" b="0" i="0" dirty="0" err="1">
                <a:solidFill>
                  <a:srgbClr val="333333"/>
                </a:solidFill>
                <a:latin typeface="Pretendard"/>
              </a:rPr>
              <a:t>화음</a:t>
            </a:r>
            <a:r>
              <a:rPr sz="10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Pretendard"/>
              </a:rPr>
              <a:t>내부</a:t>
            </a:r>
            <a:r>
              <a:rPr sz="10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Pretendard"/>
              </a:rPr>
              <a:t>음표</a:t>
            </a:r>
            <a:r>
              <a:rPr sz="10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Pretendard"/>
              </a:rPr>
              <a:t>담당</a:t>
            </a:r>
            <a:endParaRPr sz="1000" b="0" i="0" dirty="0">
              <a:solidFill>
                <a:srgbClr val="333333"/>
              </a:solidFill>
              <a:latin typeface="Pretendard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D85591A-E766-415A-9D16-25E5635F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89" y="5424423"/>
            <a:ext cx="7969920" cy="7155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Module 1 — </a:t>
            </a:r>
            <a:r>
              <a:rPr lang="ko-KR" altLang="en-US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결과물</a:t>
            </a:r>
            <a:r>
              <a:rPr lang="en-US" altLang="ko-KR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다음 </a:t>
            </a:r>
            <a:r>
              <a:rPr lang="en-US" altLang="ko-KR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module</a:t>
            </a:r>
            <a:r>
              <a:rPr lang="ko-KR" altLang="en-US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보내기위한</a:t>
            </a:r>
            <a:r>
              <a:rPr lang="en-US" altLang="ko-KR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..)</a:t>
            </a:r>
            <a:endParaRPr sz="2200" b="1" i="0" dirty="0">
              <a:solidFill>
                <a:srgbClr val="14141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7 / 20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E01F2B1-4DB8-4DE7-BC68-6EF84586E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960" y="1994535"/>
            <a:ext cx="5631668" cy="401608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AB8B562-35B7-4DED-8716-83EE81CA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211" y="1907207"/>
            <a:ext cx="4660789" cy="450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8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1 — 시각화 결과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7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40244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  <a:latin typeface="Pretendard"/>
              </a:rPr>
              <a:t>드뷔시 달빛  —  실제 연주 vs. V5 엔진 출력 비교  (일치율 85% 이상)</a:t>
            </a:r>
          </a:p>
        </p:txBody>
      </p:sp>
      <p:pic>
        <p:nvPicPr>
          <p:cNvPr id="10" name="Picture 9" descr="comparison_debus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44" y="2304000"/>
            <a:ext cx="9858194" cy="33557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1 — 시각화 결과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48000"/>
            <a:ext cx="6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  <a:latin typeface="Pretendard"/>
              </a:rPr>
              <a:t>V5 성부 태깅  (슈퍼 마리오 64 메들리, 0~10s)</a:t>
            </a:r>
          </a:p>
        </p:txBody>
      </p:sp>
      <p:pic>
        <p:nvPicPr>
          <p:cNvPr id="6" name="Picture 5" descr="mario_v5_0_10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18" y="2079000"/>
            <a:ext cx="5062500" cy="27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0000" y="1548000"/>
            <a:ext cx="41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  <a:latin typeface="Pretendard"/>
              </a:rPr>
              <a:t>실시간 시뮬레이터</a:t>
            </a:r>
          </a:p>
        </p:txBody>
      </p:sp>
      <p:pic>
        <p:nvPicPr>
          <p:cNvPr id="8" name="Picture 7" descr="fingering_sim_v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168" y="2180797"/>
            <a:ext cx="4140000" cy="249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35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2 — Jacobian DLS 역운동학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한승현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44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62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핵심 수식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80000"/>
            <a:ext cx="540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000" y="2196000"/>
            <a:ext cx="50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41414"/>
                </a:solidFill>
                <a:latin typeface="Pretendard"/>
              </a:rPr>
              <a:t>Δθ = Jᵀ (JJᵀ + λ²I)⁻¹ · Δe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3096000"/>
            <a:ext cx="54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J : 각 관절이 손끝 위치에 미치는 영향 행렬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λ = 0.05  →  불안정한 자세에서 급격한 관절 변화 방지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Max Step : 0.1 rad  →  반복마다 최대 회전량 제한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3780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관절별 ROM 제약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140000"/>
            <a:ext cx="1260000" cy="46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000" y="4212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관절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4140000"/>
            <a:ext cx="1260000" cy="46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08000" y="4212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굴곡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31999" y="4140000"/>
            <a:ext cx="1260000" cy="46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4000" y="4212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신전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8000" y="4140000"/>
            <a:ext cx="1260000" cy="46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0000" y="4212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내외전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4644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000" y="4716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MCP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35999" y="4644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08000" y="4716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0~90°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1999" y="4644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4000" y="4716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0~20°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28000" y="4644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00000" y="4716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±20°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5148000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000" y="5220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PIP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35999" y="5148000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08000" y="5220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0~100°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31999" y="5148000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4000" y="5220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0~10°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28000" y="5148000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00000" y="5220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5652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000" y="5724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DIP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35999" y="5652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08000" y="5724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0~80°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31999" y="5652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4000" y="5724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0~5°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28000" y="5652000"/>
            <a:ext cx="1260000" cy="46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00000" y="5724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0000" y="615599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000" y="6228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엄지 CMC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35999" y="615599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908000" y="6228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0~50°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31999" y="615599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4000" y="6228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0~50°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28000" y="6155999"/>
            <a:ext cx="1260000" cy="46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00000" y="6228000"/>
            <a:ext cx="111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/>
              </a:rPr>
              <a:t>±40°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80000" y="1620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7단계 반복 연산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80000" y="1980000"/>
            <a:ext cx="5220000" cy="3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60000" y="2106000"/>
            <a:ext cx="48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① 타건 목표 좌표 설정  (건반 3D 위치)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80000" y="2664000"/>
            <a:ext cx="5220000" cy="3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60000" y="2790000"/>
            <a:ext cx="48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② 순방향 운동학  (손목 → 손끝 위치 계산)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80000" y="3348000"/>
            <a:ext cx="5220000" cy="3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60000" y="3474000"/>
            <a:ext cx="48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③ 관절 영향 행렬(Jacobian) 구성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80000" y="4031999"/>
            <a:ext cx="5220000" cy="3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660000" y="4129632"/>
            <a:ext cx="48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  <a:latin typeface="Pretendard"/>
              </a:rPr>
              <a:t>④ DLS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방법으로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관절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회전량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계산</a:t>
            </a:r>
            <a:endParaRPr sz="1100" b="0" i="0" dirty="0">
              <a:solidFill>
                <a:srgbClr val="333333"/>
              </a:solidFill>
              <a:latin typeface="Pretendard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480000" y="4716000"/>
            <a:ext cx="5220000" cy="3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60000" y="4813633"/>
            <a:ext cx="48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  <a:latin typeface="Pretendard"/>
              </a:rPr>
              <a:t>⑤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관절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한계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근접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시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회전량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자동</a:t>
            </a:r>
            <a:r>
              <a:rPr sz="1100" b="0" i="0" dirty="0">
                <a:solidFill>
                  <a:srgbClr val="333333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333333"/>
                </a:solidFill>
                <a:latin typeface="Pretendard"/>
              </a:rPr>
              <a:t>감속</a:t>
            </a:r>
            <a:endParaRPr sz="1100" b="0" i="0" dirty="0">
              <a:solidFill>
                <a:srgbClr val="333333"/>
              </a:solidFill>
              <a:latin typeface="Pretendard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480000" y="5400000"/>
            <a:ext cx="5220000" cy="3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660000" y="5526000"/>
            <a:ext cx="48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⑥ 최대 회전량 제한 적용  (0.1 rad / 반복)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80000" y="6083999"/>
            <a:ext cx="5220000" cy="3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60000" y="6210000"/>
            <a:ext cx="486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Pretendard"/>
              </a:rPr>
              <a:t>⑦ 관절 범위 내로 고정  →  수렴 판정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80000" y="6588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베지어 곡선 타건 궤적  ·  손목 Yaw/Roll 가이드값 보간 적용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CA71F092-EDC0-4CB1-B1FF-7123E1087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28" y="2267922"/>
            <a:ext cx="4420544" cy="4200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2 — Jacobian DLS 역운동학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한승현</a:t>
            </a:r>
          </a:p>
        </p:txBody>
      </p:sp>
      <p:cxnSp>
        <p:nvCxnSpPr>
          <p:cNvPr id="4" name="Connector 3"/>
          <p:cNvCxnSpPr>
            <a:cxnSpLocks/>
          </p:cNvCxnSpPr>
          <p:nvPr/>
        </p:nvCxnSpPr>
        <p:spPr>
          <a:xfrm>
            <a:off x="540000" y="1440000"/>
            <a:ext cx="57084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0" name="그림 69">
            <a:extLst>
              <a:ext uri="{FF2B5EF4-FFF2-40B4-BE49-F238E27FC236}">
                <a16:creationId xmlns:a16="http://schemas.microsoft.com/office/drawing/2014/main" id="{72247453-CCF0-4061-BF4B-F82A3C0A6685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957104" y="1600563"/>
            <a:ext cx="3267693" cy="5067747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C07F5A0D-FF0B-43EE-A799-CC5B4A6CF83B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713252" y="432000"/>
            <a:ext cx="2635233" cy="609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62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2 — Jacobian DLS 역운동학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한승현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44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그림 67">
            <a:extLst>
              <a:ext uri="{FF2B5EF4-FFF2-40B4-BE49-F238E27FC236}">
                <a16:creationId xmlns:a16="http://schemas.microsoft.com/office/drawing/2014/main" id="{9C24B2E2-C72A-4933-91F3-CD7DA0101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7449" y="2008357"/>
            <a:ext cx="10818810" cy="39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01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Module 2 — IK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</a:t>
            </a:r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이미지 </a:t>
            </a:r>
            <a:r>
              <a:rPr lang="en-US" altLang="ko-KR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lang="ko-KR" altLang="en-US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</a:t>
            </a:r>
            <a:r>
              <a:rPr lang="en-US" altLang="ko-KR" sz="2200" b="1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sz="2200" b="1" i="0" dirty="0">
              <a:solidFill>
                <a:srgbClr val="14141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 / 20</a:t>
            </a:r>
          </a:p>
        </p:txBody>
      </p:sp>
      <p:pic>
        <p:nvPicPr>
          <p:cNvPr id="5" name="Picture 4" descr="ik_vulk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14" y="1422000"/>
            <a:ext cx="5423699" cy="4860000"/>
          </a:xfrm>
          <a:prstGeom prst="rect">
            <a:avLst/>
          </a:prstGeom>
        </p:spPr>
      </p:pic>
      <p:pic>
        <p:nvPicPr>
          <p:cNvPr id="14" name="IK 시뮬레이션 최종">
            <a:hlinkClick r:id="" action="ppaction://media"/>
            <a:extLst>
              <a:ext uri="{FF2B5EF4-FFF2-40B4-BE49-F238E27FC236}">
                <a16:creationId xmlns:a16="http://schemas.microsoft.com/office/drawing/2014/main" id="{DED6577A-382E-406A-B8F9-EF07E669BB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63699" y="1566000"/>
            <a:ext cx="6096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75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3 — Chaos Flesh PBD 물리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곽경민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44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10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620000"/>
            <a:ext cx="5400000" cy="154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72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/>
              </a:rPr>
              <a:t>기존 방식  (LBS)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304000"/>
            <a:ext cx="504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관절을 굽히면 부피가 사라지거나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표면이 비틀리는 문제 발생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(Candy Wrapper Artifact)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620000"/>
            <a:ext cx="5400000" cy="154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72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/>
              </a:rPr>
              <a:t>Chaos Flesh PBD (적용)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2304000"/>
            <a:ext cx="504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내부를 사면체로 채워 볼륨을 보존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뼈 움직임에 따라 피부가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자연스럽게 밀리고 변형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3348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Flesh Asset Dataflow  —  2개 그래프 분리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3814448"/>
            <a:ext cx="2752293" cy="12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3922448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Dataflow ①  형상(Geometry)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498448"/>
            <a:ext cx="52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스켈레탈 메시 → 사면체 생성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→ 정점 속성 전달 → FleshAsset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53685" y="5216896"/>
            <a:ext cx="12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999999"/>
                </a:solidFill>
                <a:latin typeface="Pretendard"/>
              </a:rPr>
              <a:t>재사용</a:t>
            </a:r>
            <a:endParaRPr sz="1200" b="0" i="0" dirty="0">
              <a:solidFill>
                <a:srgbClr val="999999"/>
              </a:solidFill>
              <a:latin typeface="Pretendard"/>
            </a:endParaRPr>
          </a:p>
          <a:p>
            <a:pPr algn="ctr"/>
            <a:r>
              <a:rPr sz="1200" b="0" i="0" dirty="0">
                <a:solidFill>
                  <a:srgbClr val="999999"/>
                </a:solidFill>
                <a:latin typeface="Pretendar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536" y="5230800"/>
            <a:ext cx="2599634" cy="1295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3921" y="53640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Dataflow ②  시뮬레이션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921" y="5940000"/>
            <a:ext cx="52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66666"/>
                </a:solidFill>
                <a:latin typeface="Pretendard"/>
              </a:rPr>
              <a:t>FleshAsset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로드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→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물성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설정</a:t>
            </a:r>
            <a:endParaRPr sz="1100" b="0" i="0" dirty="0">
              <a:solidFill>
                <a:srgbClr val="666666"/>
              </a:solidFill>
              <a:latin typeface="Pretendard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Pretendard"/>
              </a:rPr>
              <a:t>→ 본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바인딩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→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트라이앵글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바인딩</a:t>
            </a:r>
            <a:endParaRPr sz="1100" b="0" i="0" dirty="0">
              <a:solidFill>
                <a:srgbClr val="666666"/>
              </a:solidFill>
              <a:latin typeface="Pretendard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1DFDB99-3ABB-4D75-AA86-8DE5BF04B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493" y="3879711"/>
            <a:ext cx="8550381" cy="24614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3 — Chaos Flesh PBD 물리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곽경민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44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10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1620000"/>
            <a:ext cx="5400000" cy="154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0000" y="172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/>
              </a:rPr>
              <a:t>기존 방식  (LBS)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304000"/>
            <a:ext cx="504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관절을 굽히면 부피가 사라지거나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표면이 비틀리는 문제 발생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(Candy Wrapper Artifact)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620000"/>
            <a:ext cx="5400000" cy="154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0000" y="1728000"/>
            <a:ext cx="504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/>
              </a:rPr>
              <a:t>Chaos Flesh PBD (적용)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2304000"/>
            <a:ext cx="5040000" cy="15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내부를 사면체로 채워 볼륨을 보존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뼈 움직임에 따라 피부가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자연스럽게 밀리고 변형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3348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Flesh Asset Dataflow  —  2개 그래프 분리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00" y="3814448"/>
            <a:ext cx="2752293" cy="129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3922448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Dataflow ①  형상(Geometry)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498448"/>
            <a:ext cx="52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스켈레탈 메시 → 사면체 생성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/>
              </a:rPr>
              <a:t>→ 정점 속성 전달 → FleshAsset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53685" y="5216896"/>
            <a:ext cx="126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999999"/>
                </a:solidFill>
                <a:latin typeface="Pretendard"/>
              </a:rPr>
              <a:t>재사용</a:t>
            </a:r>
            <a:endParaRPr sz="1200" b="0" i="0" dirty="0">
              <a:solidFill>
                <a:srgbClr val="999999"/>
              </a:solidFill>
              <a:latin typeface="Pretendard"/>
            </a:endParaRPr>
          </a:p>
          <a:p>
            <a:pPr algn="ctr"/>
            <a:r>
              <a:rPr sz="1200" b="0" i="0" dirty="0">
                <a:solidFill>
                  <a:srgbClr val="999999"/>
                </a:solidFill>
                <a:latin typeface="Pretendar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536" y="5230800"/>
            <a:ext cx="2599634" cy="1295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3921" y="5364000"/>
            <a:ext cx="522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Dataflow ②  시뮬레이션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921" y="5940000"/>
            <a:ext cx="52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66666"/>
                </a:solidFill>
                <a:latin typeface="Pretendard"/>
              </a:rPr>
              <a:t>FleshAsset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로드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→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물성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설정</a:t>
            </a:r>
            <a:endParaRPr sz="1100" b="0" i="0" dirty="0">
              <a:solidFill>
                <a:srgbClr val="666666"/>
              </a:solidFill>
              <a:latin typeface="Pretendard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Pretendard"/>
              </a:rPr>
              <a:t>→ 본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바인딩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→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트라이앵글</a:t>
            </a:r>
            <a:r>
              <a:rPr sz="1100" b="0" i="0" dirty="0">
                <a:solidFill>
                  <a:srgbClr val="666666"/>
                </a:solidFill>
                <a:latin typeface="Pretendard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/>
              </a:rPr>
              <a:t>바인딩</a:t>
            </a:r>
            <a:endParaRPr sz="1100" b="0" i="0" dirty="0">
              <a:solidFill>
                <a:srgbClr val="666666"/>
              </a:solidFill>
              <a:latin typeface="Pretendard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20069FA-DA48-41A9-971A-DD7FA25E5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173" y="3672000"/>
            <a:ext cx="8710415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193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41414"/>
                </a:solidFill>
                <a:latin typeface="Pretendard"/>
              </a:rPr>
              <a:t>Module 3 — Chaos Flesh </a:t>
            </a:r>
            <a:r>
              <a:rPr sz="2200" b="1" i="0" dirty="0" err="1">
                <a:solidFill>
                  <a:srgbClr val="141414"/>
                </a:solidFill>
                <a:latin typeface="Pretendard"/>
              </a:rPr>
              <a:t>변형</a:t>
            </a:r>
            <a:r>
              <a:rPr sz="2200" b="1" i="0" dirty="0">
                <a:solidFill>
                  <a:srgbClr val="141414"/>
                </a:solidFill>
                <a:latin typeface="Pretendard"/>
              </a:rPr>
              <a:t> </a:t>
            </a:r>
            <a:r>
              <a:rPr sz="2200" b="1" i="0" dirty="0" err="1">
                <a:solidFill>
                  <a:srgbClr val="141414"/>
                </a:solidFill>
                <a:latin typeface="Pretendard"/>
              </a:rPr>
              <a:t>결과</a:t>
            </a:r>
            <a:endParaRPr sz="2200" b="1" i="0" dirty="0">
              <a:solidFill>
                <a:srgbClr val="141414"/>
              </a:solidFill>
              <a:latin typeface="Pretendard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11 / 20</a:t>
            </a:r>
          </a:p>
        </p:txBody>
      </p:sp>
      <p:pic>
        <p:nvPicPr>
          <p:cNvPr id="5" name="Picture 4" descr="chaos_t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2251988"/>
            <a:ext cx="2592000" cy="15800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0000" y="4680000"/>
            <a:ext cx="259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Pretendard"/>
              </a:rPr>
              <a:t>T-포즈 원본</a:t>
            </a:r>
          </a:p>
        </p:txBody>
      </p:sp>
      <p:pic>
        <p:nvPicPr>
          <p:cNvPr id="7" name="Picture 6" descr="chaos_deform_s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59" y="1512000"/>
            <a:ext cx="2277480" cy="30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48000" y="4680000"/>
            <a:ext cx="259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Pretendard"/>
              </a:rPr>
              <a:t>굴곡 변형 (측면)</a:t>
            </a:r>
          </a:p>
        </p:txBody>
      </p:sp>
      <p:pic>
        <p:nvPicPr>
          <p:cNvPr id="9" name="Picture 8" descr="chaos_deform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780" y="1512000"/>
            <a:ext cx="1846439" cy="306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56000" y="4680000"/>
            <a:ext cx="259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Pretendard"/>
              </a:rPr>
              <a:t>굴곡 변형 (전체)</a:t>
            </a:r>
          </a:p>
        </p:txBody>
      </p:sp>
      <p:pic>
        <p:nvPicPr>
          <p:cNvPr id="11" name="Picture 10" descr="chaos_physics_as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000" y="1638000"/>
            <a:ext cx="2592000" cy="280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64000" y="4680000"/>
            <a:ext cx="259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666666"/>
                </a:solidFill>
                <a:latin typeface="Pretendard"/>
              </a:rPr>
              <a:t>Physics Asset</a:t>
            </a:r>
          </a:p>
          <a:p>
            <a:pPr algn="ctr"/>
            <a:r>
              <a:rPr sz="1000" b="0" i="0" dirty="0">
                <a:solidFill>
                  <a:srgbClr val="666666"/>
                </a:solidFill>
                <a:latin typeface="Pretendard"/>
              </a:rPr>
              <a:t>17개 Capsule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41414"/>
                </a:solidFill>
                <a:latin typeface="Pretendard"/>
              </a:rPr>
              <a:t>Module 3 —</a:t>
            </a:r>
            <a:r>
              <a:rPr sz="2200" b="1" i="0" dirty="0" err="1">
                <a:solidFill>
                  <a:srgbClr val="141414"/>
                </a:solidFill>
                <a:latin typeface="Pretendard"/>
              </a:rPr>
              <a:t>사면체</a:t>
            </a:r>
            <a:r>
              <a:rPr sz="2200" b="1" i="0" dirty="0">
                <a:solidFill>
                  <a:srgbClr val="141414"/>
                </a:solidFill>
                <a:latin typeface="Pretendard"/>
              </a:rPr>
              <a:t> </a:t>
            </a:r>
            <a:r>
              <a:rPr sz="2200" b="1" i="0" dirty="0" err="1">
                <a:solidFill>
                  <a:srgbClr val="141414"/>
                </a:solidFill>
                <a:latin typeface="Pretendard"/>
              </a:rPr>
              <a:t>최적화</a:t>
            </a:r>
            <a:endParaRPr sz="2200" b="1" i="0" dirty="0">
              <a:solidFill>
                <a:srgbClr val="141414"/>
              </a:solidFill>
              <a:latin typeface="Pretendard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11 / 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0000" y="5688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000" y="583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  <a:latin typeface="Pretendard"/>
              </a:rPr>
              <a:t>사면체 최적화  —  Selection을 손/팔 본으로 한정, 정점 약 85% 감소</a:t>
            </a:r>
          </a:p>
        </p:txBody>
      </p:sp>
      <p:pic>
        <p:nvPicPr>
          <p:cNvPr id="15" name="Picture 14" descr="tet_optim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89" y="1417355"/>
            <a:ext cx="5977346" cy="402328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360000" y="2268002"/>
            <a:ext cx="216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40000" y="2376002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Pretendard"/>
              </a:rPr>
              <a:t>최적화 전  Verts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0000" y="2736002"/>
            <a:ext cx="18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Pretendard"/>
              </a:rPr>
              <a:t>40,128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0000" y="3420000"/>
            <a:ext cx="216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40000" y="3528000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Pretendard"/>
              </a:rPr>
              <a:t>최적화 후  Verts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0000" y="3888000"/>
            <a:ext cx="18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Pretendard"/>
              </a:rPr>
              <a:t>6,147</a:t>
            </a:r>
          </a:p>
        </p:txBody>
      </p:sp>
    </p:spTree>
    <p:extLst>
      <p:ext uri="{BB962C8B-B14F-4D97-AF65-F5344CB8AC3E}">
        <p14:creationId xmlns:p14="http://schemas.microsoft.com/office/powerpoint/2010/main" val="4177529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41414"/>
                </a:solidFill>
                <a:latin typeface="Pretendard"/>
              </a:rPr>
              <a:t>Module 3 —</a:t>
            </a:r>
            <a:r>
              <a:rPr sz="2200" b="1" i="0" dirty="0" err="1">
                <a:solidFill>
                  <a:srgbClr val="141414"/>
                </a:solidFill>
                <a:latin typeface="Pretendard"/>
              </a:rPr>
              <a:t>사면체</a:t>
            </a:r>
            <a:r>
              <a:rPr sz="2200" b="1" i="0" dirty="0">
                <a:solidFill>
                  <a:srgbClr val="141414"/>
                </a:solidFill>
                <a:latin typeface="Pretendard"/>
              </a:rPr>
              <a:t> </a:t>
            </a:r>
            <a:r>
              <a:rPr sz="2200" b="1" i="0" dirty="0" err="1">
                <a:solidFill>
                  <a:srgbClr val="141414"/>
                </a:solidFill>
                <a:latin typeface="Pretendard"/>
              </a:rPr>
              <a:t>최적화</a:t>
            </a:r>
            <a:endParaRPr sz="2200" b="1" i="0" dirty="0">
              <a:solidFill>
                <a:srgbClr val="141414"/>
              </a:solidFill>
              <a:latin typeface="Pretendard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11 / 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0000" y="5688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0000" y="5832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  <a:latin typeface="Pretendard"/>
              </a:rPr>
              <a:t>사면체 최적화  —  Selection을 손/팔 본으로 한정, 정점 약 85% 감소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0" y="2268002"/>
            <a:ext cx="216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40000" y="2376002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Pretendard"/>
              </a:rPr>
              <a:t>최적화 전  Verts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40000" y="2736002"/>
            <a:ext cx="18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Pretendard"/>
              </a:rPr>
              <a:t>40,128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0000" y="3420000"/>
            <a:ext cx="216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40000" y="3528000"/>
            <a:ext cx="18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Pretendard"/>
              </a:rPr>
              <a:t>최적화 후  Verts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0000" y="3888000"/>
            <a:ext cx="18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41414"/>
                </a:solidFill>
                <a:latin typeface="Pretendard"/>
              </a:rPr>
              <a:t>6,147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DFE961-DC4F-48CA-A9A5-5C0E26114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70" y="1609697"/>
            <a:ext cx="3193057" cy="37646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185126-6F8F-4DE2-9EBB-85BE845E1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55" y="1680491"/>
            <a:ext cx="4548116" cy="349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52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3 — 텐션맵 &amp; 디테일 셰이더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곽경민 / 이수민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44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54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구현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944000"/>
            <a:ext cx="522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0000" y="2052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✓  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0" y="2052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장력 시각화 머티리얼 구현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압축·인장 부위를 파랑/빨강으로 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3024000"/>
            <a:ext cx="522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0000" y="3132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Pretendard"/>
              </a:rPr>
              <a:t>      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3132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변형량을 0~1 텐션값으로 변환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(Deformer Graph 기반 정규화)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4104000"/>
            <a:ext cx="522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0000" y="4212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Pretendard"/>
              </a:rPr>
              <a:t>      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0" y="4212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텐션맵을 텍스처로 베이크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(1024×1024 Render Target)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5184000"/>
            <a:ext cx="5220000" cy="100799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0000" y="5292000"/>
            <a:ext cx="12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Pretendard"/>
              </a:rPr>
              <a:t>      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000" y="5292000"/>
            <a:ext cx="342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텐션값으로 주름·핏줄 변위 구동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+ 노멀맵 미세 디테일 반영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1548000"/>
            <a:ext cx="52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  <a:latin typeface="Pretendard"/>
              </a:rPr>
              <a:t>M_FleshTension  머티리얼 그래프 (UE5)</a:t>
            </a:r>
          </a:p>
        </p:txBody>
      </p:sp>
      <p:pic>
        <p:nvPicPr>
          <p:cNvPr id="20" name="Picture 19" descr="tension_mate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151" y="1943999"/>
            <a:ext cx="4312351" cy="456738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0000" y="6299999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333333"/>
                </a:solidFill>
                <a:latin typeface="Pretendard"/>
              </a:rPr>
              <a:t>주름</a:t>
            </a:r>
            <a:r>
              <a:rPr sz="1100" b="0" i="1" dirty="0">
                <a:solidFill>
                  <a:srgbClr val="333333"/>
                </a:solidFill>
                <a:latin typeface="Pretendard"/>
              </a:rPr>
              <a:t>:  </a:t>
            </a:r>
            <a:r>
              <a:rPr sz="1100" b="0" i="1" dirty="0" err="1">
                <a:solidFill>
                  <a:srgbClr val="333333"/>
                </a:solidFill>
                <a:latin typeface="Pretendard"/>
              </a:rPr>
              <a:t>disp_w</a:t>
            </a:r>
            <a:r>
              <a:rPr sz="1100" b="0" i="1" dirty="0">
                <a:solidFill>
                  <a:srgbClr val="333333"/>
                </a:solidFill>
                <a:latin typeface="Pretendard"/>
              </a:rPr>
              <a:t> = Σ sin(</a:t>
            </a:r>
            <a:r>
              <a:rPr sz="1100" b="0" i="1" dirty="0" err="1">
                <a:solidFill>
                  <a:srgbClr val="333333"/>
                </a:solidFill>
                <a:latin typeface="Pretendard"/>
              </a:rPr>
              <a:t>freq</a:t>
            </a:r>
            <a:r>
              <a:rPr sz="1100" b="0" i="1" dirty="0">
                <a:solidFill>
                  <a:srgbClr val="333333"/>
                </a:solidFill>
                <a:latin typeface="Pretendard"/>
              </a:rPr>
              <a:t> × UV + phase) × tension × Amp</a:t>
            </a:r>
          </a:p>
          <a:p>
            <a:pPr algn="l"/>
            <a:r>
              <a:rPr sz="1100" b="0" i="1" dirty="0" err="1">
                <a:solidFill>
                  <a:srgbClr val="333333"/>
                </a:solidFill>
                <a:latin typeface="Pretendard"/>
              </a:rPr>
              <a:t>핏줄</a:t>
            </a:r>
            <a:r>
              <a:rPr sz="1100" b="0" i="1" dirty="0">
                <a:solidFill>
                  <a:srgbClr val="333333"/>
                </a:solidFill>
                <a:latin typeface="Pretendard"/>
              </a:rPr>
              <a:t>:  </a:t>
            </a:r>
            <a:r>
              <a:rPr sz="1100" b="0" i="1" dirty="0" err="1">
                <a:solidFill>
                  <a:srgbClr val="333333"/>
                </a:solidFill>
                <a:latin typeface="Pretendard"/>
              </a:rPr>
              <a:t>disp_v</a:t>
            </a:r>
            <a:r>
              <a:rPr sz="1100" b="0" i="1" dirty="0">
                <a:solidFill>
                  <a:srgbClr val="333333"/>
                </a:solidFill>
                <a:latin typeface="Pretendard"/>
              </a:rPr>
              <a:t> = ridge(</a:t>
            </a:r>
            <a:r>
              <a:rPr sz="1100" b="0" i="1" dirty="0" err="1">
                <a:solidFill>
                  <a:srgbClr val="333333"/>
                </a:solidFill>
                <a:latin typeface="Pretendard"/>
              </a:rPr>
              <a:t>VeinMap</a:t>
            </a:r>
            <a:r>
              <a:rPr sz="1100" b="0" i="1" dirty="0">
                <a:solidFill>
                  <a:srgbClr val="333333"/>
                </a:solidFill>
                <a:latin typeface="Pretendard"/>
              </a:rPr>
              <a:t>) × (1 + tension × k) × </a:t>
            </a:r>
            <a:r>
              <a:rPr sz="1100" b="0" i="1" dirty="0" err="1">
                <a:solidFill>
                  <a:srgbClr val="333333"/>
                </a:solidFill>
                <a:latin typeface="Pretendard"/>
              </a:rPr>
              <a:t>VeinStrength</a:t>
            </a:r>
            <a:endParaRPr sz="1100" b="0" i="1" dirty="0">
              <a:solidFill>
                <a:srgbClr val="333333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3 — 주름 변위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512000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WPO 기반 절차적 주름  —  장력 스칼라 0 → 1 변화에 따른 주름 형성 확인</a:t>
            </a:r>
          </a:p>
        </p:txBody>
      </p:sp>
      <p:pic>
        <p:nvPicPr>
          <p:cNvPr id="6" name="Picture 5" descr="wrinkle_bend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515333"/>
            <a:ext cx="5040000" cy="3033333"/>
          </a:xfrm>
          <a:prstGeom prst="rect">
            <a:avLst/>
          </a:prstGeom>
        </p:spPr>
      </p:pic>
      <p:pic>
        <p:nvPicPr>
          <p:cNvPr id="7" name="Picture 6" descr="wrinkle_bend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000" y="2515333"/>
            <a:ext cx="5040000" cy="3033333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720000" y="5795999"/>
            <a:ext cx="50400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300000" y="5795999"/>
            <a:ext cx="50400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0000" y="5903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Pretendard"/>
              </a:rPr>
              <a:t>장력 = 0  (이완 상태 — 주름 없음)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0" y="5903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  <a:latin typeface="Pretendard"/>
              </a:rPr>
              <a:t>장력 = 1.0  (최대 굴곡 — 주름 최대)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3 — 주름 변위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13 / 20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C55A3E8-A7E7-4391-BAC3-2BE8771C6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677" y="1778095"/>
            <a:ext cx="1729121" cy="450619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DE6C45D-C64A-45D6-81B6-F59480EA7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04" y="1607532"/>
            <a:ext cx="4382107" cy="498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55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3 — 주름 변위 검증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13 / 20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95F2D78-5AF5-4C02-B597-7DB690A9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919" y="1696922"/>
            <a:ext cx="8324826" cy="474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865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Module 3 — SVE/RDG 커스텀 렌더링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152000"/>
            <a:ext cx="109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Pretendard"/>
              </a:rPr>
              <a:t>이수민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0000" y="144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653952"/>
            <a:ext cx="109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/>
              </a:rPr>
              <a:t>세 가지 셰이더 분기 검증 완료</a:t>
            </a:r>
          </a:p>
        </p:txBody>
      </p:sp>
      <p:pic>
        <p:nvPicPr>
          <p:cNvPr id="8" name="Picture 7" descr="unreal_so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17" y="2430000"/>
            <a:ext cx="2762365" cy="234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4842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Pretendard"/>
              </a:rPr>
              <a:t>Mode 1</a:t>
            </a:r>
          </a:p>
          <a:p>
            <a:pPr algn="ctr"/>
            <a:r>
              <a:rPr sz="1100" b="0" i="0">
                <a:solidFill>
                  <a:srgbClr val="666666"/>
                </a:solidFill>
                <a:latin typeface="Pretendard"/>
              </a:rPr>
              <a:t>Sobel 에지 검출</a:t>
            </a:r>
          </a:p>
        </p:txBody>
      </p:sp>
      <p:pic>
        <p:nvPicPr>
          <p:cNvPr id="10" name="Picture 9" descr="unreal_poster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539" y="2430000"/>
            <a:ext cx="3008921" cy="234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40000" y="4842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Pretendard"/>
              </a:rPr>
              <a:t>Mode 2</a:t>
            </a:r>
          </a:p>
          <a:p>
            <a:pPr algn="ctr"/>
            <a:r>
              <a:rPr sz="1100" b="0" i="0">
                <a:solidFill>
                  <a:srgbClr val="666666"/>
                </a:solidFill>
                <a:latin typeface="Pretendard"/>
              </a:rPr>
              <a:t>탈색 + 포스터라이즈</a:t>
            </a:r>
          </a:p>
        </p:txBody>
      </p:sp>
      <p:pic>
        <p:nvPicPr>
          <p:cNvPr id="12" name="Picture 11" descr="unreal_passthrou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187" y="2430000"/>
            <a:ext cx="3017625" cy="234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0000" y="4842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Pretendard"/>
              </a:rPr>
              <a:t>Mode 3</a:t>
            </a:r>
          </a:p>
          <a:p>
            <a:pPr algn="ctr"/>
            <a:r>
              <a:rPr sz="1100" b="0" i="0">
                <a:solidFill>
                  <a:srgbClr val="666666"/>
                </a:solidFill>
                <a:latin typeface="Pretendard"/>
              </a:rPr>
              <a:t>원본 패스스루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파트 간 데이터 인터페이스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548000"/>
            <a:ext cx="10980000" cy="154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673999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Pretendard"/>
              </a:rPr>
              <a:t>Interface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96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Pretendard"/>
              </a:rPr>
              <a:t>01 →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0" y="1673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Pretendard"/>
              </a:rPr>
              <a:t>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80000" y="1673999"/>
            <a:ext cx="504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60000" y="1728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pitch · start_ms · duration_ms · hand · finger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pressure · key_depth · is_black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wrist_yaw_deg · wrist_roll_deg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203999"/>
            <a:ext cx="10980000" cy="154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3329999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Pretendard"/>
              </a:rPr>
              <a:t>Interface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3851999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Pretendard"/>
              </a:rPr>
              <a:t>02 →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0" y="3329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Pretendard"/>
              </a:rPr>
              <a:t>UE5 AnimSequence  (30 fps)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80000" y="3329999"/>
            <a:ext cx="504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60000" y="3383999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관절별 Transform (Location / Rotation / Scale)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hand_r/l, index_01~03, middle_01~03, ...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로컬 본 좌표 (cm)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4860000"/>
            <a:ext cx="10980000" cy="154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0000" y="498600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Pretendard"/>
              </a:rPr>
              <a:t>Interface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508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Pretendard"/>
              </a:rPr>
              <a:t>03 →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0000" y="4986000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Pretendard"/>
              </a:rPr>
              <a:t>Material / Buffer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0000" y="4986000"/>
            <a:ext cx="504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60000" y="5040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Vertex Displacement (Δx, Δy, Δz) per-vertex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Tension Value (0.0~1.0) per-vertex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Skin / Normal / Vein Texture (4K)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파트 간 데이터 인터페이스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548000"/>
            <a:ext cx="10980000" cy="94294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0000" y="1673999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Pretendard"/>
              </a:rPr>
              <a:t>Interface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19600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Pretendard"/>
              </a:rPr>
              <a:t>01 →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0" y="1673999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Pretendard"/>
              </a:rPr>
              <a:t>JSON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80000" y="1673999"/>
            <a:ext cx="504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60000" y="172800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pitch · start_ms · duration_ms · hand · finger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pressure · key_depth · is_black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wrist_yaw_deg · wrist_roll_deg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30EB17-E3E4-42B7-8A31-E417C2349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360" y="3158626"/>
            <a:ext cx="3924640" cy="307874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1D9F07D-F5F0-4CA2-9274-46B3AB01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99" y="2711980"/>
            <a:ext cx="6614733" cy="36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94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파트 간 데이터 인터페이스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15 / 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51095"/>
            <a:ext cx="10980000" cy="104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0000" y="1777095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Pretendard"/>
              </a:rPr>
              <a:t>Interface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299095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Pretendard"/>
              </a:rPr>
              <a:t>02 →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0" y="1777095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Pretendard"/>
              </a:rPr>
              <a:t>UE5 AnimSequence  (30 fps)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80000" y="1777095"/>
            <a:ext cx="504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60000" y="1831095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관절별 Transform (Location / Rotation / Scale)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hand_r/l, index_01~03, middle_01~03, ...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로컬 본 좌표 (cm)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0122967-49EA-47F3-A38C-F097AFA64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89" y="2880082"/>
            <a:ext cx="2798822" cy="354591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850A9A5-342C-43D5-BC79-CFBDD4B60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079" y="2880082"/>
            <a:ext cx="3480189" cy="364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파트 간 데이터 인터페이스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15 /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794" y="1572890"/>
            <a:ext cx="10980000" cy="104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794" y="1698890"/>
            <a:ext cx="19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41414"/>
                </a:solidFill>
                <a:latin typeface="Pretendard"/>
              </a:rPr>
              <a:t>Interface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794" y="2220890"/>
            <a:ext cx="19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  <a:latin typeface="Pretendard"/>
              </a:rPr>
              <a:t>03 →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6794" y="1698890"/>
            <a:ext cx="324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Pretendard"/>
              </a:rPr>
              <a:t>Material / Buffer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46794" y="1698890"/>
            <a:ext cx="5040000" cy="0"/>
          </a:xfrm>
          <a:prstGeom prst="line">
            <a:avLst/>
          </a:prstGeom>
          <a:ln w="508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6794" y="1752890"/>
            <a:ext cx="46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Vertex Displacement (Δx, Δy, Δz) per-vertex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Tension Value (0.0~1.0) per-vertex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/>
              </a:rPr>
              <a:t>Skin / Normal / Vein Texture (4K)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93E8192-F1E1-44DF-9A76-640149E63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169" y="3066889"/>
            <a:ext cx="6805250" cy="300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768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/>
              </a:rPr>
              <a:t>파트 간 데이터 인터페이스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/>
              </a:rPr>
              <a:t>15 / 20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96EA9ADE-62B3-4E51-A50C-816884923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156" y="1575829"/>
            <a:ext cx="8249276" cy="455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758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기술적 도전 및 해결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548000"/>
            <a:ext cx="5580000" cy="16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4000" y="1655999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왼손 운지 방향 오류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124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2124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오른손 기준 로직을 왼손에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그대로 적용 → 손가락 꼬임 발생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664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664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왼손의 음정-손가락 방향을 반전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교차 패널티 방향도 함께 수정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3276000"/>
            <a:ext cx="5580000" cy="16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4000" y="3384000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불안정 현상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851999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3851999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자세에서 관절이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갑자기 뒤집히는 현상 발생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000" y="4392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4392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DLS 방식 적용 (λ=0.05)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급격한 관절 변화 억제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5003999"/>
            <a:ext cx="5580000" cy="16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4000" y="5112000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SVE 초기화 오류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0" y="5579999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5579999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엔진 초기화 전에 렌더 확장을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생성하여 크래시 발생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6120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0000" y="6120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엔진 초기화 완료 후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콜백에서 지연 생성으로 해결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000" y="1548000"/>
            <a:ext cx="5580000" cy="16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43999" y="1655999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Flesh 시뮬레이션 과부하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3999" y="2124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0" y="2124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전신 사면체 생성 시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에디터가 멈추는 문제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3999" y="2664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0" y="2664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손·팔 영역만 선택적 적용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정점 수 85% 감소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000" y="3276000"/>
            <a:ext cx="5580000" cy="16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3999" y="3384000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UE5 버전 호환 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999" y="3851999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0000" y="3851999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UE5.6에서 Chaos Flesh API 변경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→ 기존 연동 코드 중단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3999" y="4392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0000" y="4392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UE5.5 버전으로 다운그레이드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안정성 확보 (진행 중)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0000" y="5003999"/>
            <a:ext cx="5580000" cy="16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43999" y="5112000"/>
            <a:ext cx="522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Thumb-under 미지원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3999" y="5579999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0" y="5579999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스케일·아르페지오 구간에서</a:t>
            </a:r>
          </a:p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엄지 넘기기 자동화 부재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3999" y="6120000"/>
            <a:ext cx="72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0000" y="6120000"/>
            <a:ext cx="45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2학기: 해당 구간 자동 감지 후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 보상 비용 적용 예정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2학기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졸업프로젝트</a:t>
            </a:r>
            <a:r>
              <a:rPr lang="en-US"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계획</a:t>
            </a:r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분야별</a:t>
            </a:r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고도화</a:t>
            </a:r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</a:t>
            </a:r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프로그램</a:t>
            </a:r>
            <a:r>
              <a:rPr sz="2200" b="1" i="0" dirty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2200" b="1" i="0" dirty="0" err="1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개발</a:t>
            </a:r>
            <a:endParaRPr sz="2200" b="1" i="0" dirty="0">
              <a:solidFill>
                <a:srgbClr val="141414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17345" y="1512000"/>
            <a:ext cx="1874793" cy="185393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4000" y="1620000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 엔진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196000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엄지 넘기기 자동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2545555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MIDI 페달 표현 반영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" y="2913552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사용자 손 크기 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3779" y="1512000"/>
            <a:ext cx="1874793" cy="185393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90434" y="1620000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IK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0434" y="2196000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MetaHuman 실제 연동 완성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0434" y="2545555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손가락 간 충돌 방지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0434" y="2913552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</a:t>
            </a:r>
            <a:r>
              <a:rPr sz="10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손목</a:t>
            </a:r>
            <a:r>
              <a:rPr sz="10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동작</a:t>
            </a:r>
            <a:r>
              <a:rPr sz="10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0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자연화</a:t>
            </a:r>
            <a:endParaRPr sz="1000" b="0" i="0" dirty="0">
              <a:solidFill>
                <a:srgbClr val="66666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7346" y="3492061"/>
            <a:ext cx="1874793" cy="185393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4001" y="3600061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Skinning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01" y="4176061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텐션맵 파이프라인 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01" y="4525616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실제 손 메시로 교체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001" y="4893613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고해상도 테셀레이션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46435" y="3492061"/>
            <a:ext cx="1874793" cy="185393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90434" y="3600061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셰이더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0434" y="4176061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물리 기반 스키닝 적용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0434" y="4525616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핏줄·노멀 디테일 통합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0434" y="4893613"/>
            <a:ext cx="234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 PBR 최종 품질 조정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5846554"/>
            <a:ext cx="10980000" cy="813446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0000" y="5911934"/>
            <a:ext cx="1062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</a:t>
            </a:r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결과물</a:t>
            </a:r>
            <a:r>
              <a:rPr sz="1400" b="1" i="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목표</a:t>
            </a:r>
            <a:endParaRPr sz="1400" b="1" i="0" dirty="0">
              <a:solidFill>
                <a:srgbClr val="FFFF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0000" y="6101301"/>
            <a:ext cx="106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임의의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MIDI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→ 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결정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→  IK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애니메이션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→ 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고품질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렌더링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영상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</a:t>
            </a:r>
            <a:r>
              <a:rPr sz="1600" b="1" i="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600" b="1" i="0" dirty="0" err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생성</a:t>
            </a:r>
            <a:endParaRPr sz="1600" b="1" i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7DC521ED-57BF-4FC3-A8B6-F717776D0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048" y="1668068"/>
            <a:ext cx="5402723" cy="386398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0000" y="432000"/>
            <a:ext cx="1098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0000" y="1296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60000" y="6408000"/>
            <a:ext cx="9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512000"/>
            <a:ext cx="2628000" cy="28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4000" y="1620000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232000"/>
            <a:ext cx="2340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음악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맥락과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해부학적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제약을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동시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반영</a:t>
            </a:r>
            <a:endParaRPr sz="1100" b="0" i="0" dirty="0">
              <a:solidFill>
                <a:srgbClr val="66666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/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성부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분리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손가락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배정</a:t>
            </a:r>
            <a:endParaRPr sz="1100" b="0" i="0" dirty="0">
              <a:solidFill>
                <a:srgbClr val="66666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/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연주와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85%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이상</a:t>
            </a:r>
            <a:r>
              <a:rPr sz="1100" b="0" i="0" dirty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sz="1100" b="0" i="0" dirty="0" err="1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일치</a:t>
            </a:r>
            <a:endParaRPr sz="1100" b="0" i="0" dirty="0">
              <a:solidFill>
                <a:srgbClr val="666666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48000" y="1512000"/>
            <a:ext cx="2628000" cy="28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92000" y="1620000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역운동학 (IK)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2000" y="2232000"/>
            <a:ext cx="2340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불안정 자세에서도 관절 뒤집힘 없음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베지어 곡선 기반 자연스러운 타건 궤적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15회 이내 반복으로 1mm 오차 수렴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6000" y="1512000"/>
            <a:ext cx="2628000" cy="28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0000" y="1620000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피부 시뮬레이션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0" y="2232000"/>
            <a:ext cx="2340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사면체 기반 볼륨 보존 시뮬레이션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기술의 관절 뭉개짐 현상 해소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정점 85% 최적화로 실시간 성능 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4000" y="1512000"/>
            <a:ext cx="2628000" cy="288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07999" y="1620000"/>
            <a:ext cx="234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1414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커스텀 렌더링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999" y="2232000"/>
            <a:ext cx="2340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장력 기반 주름·핏줄 실시간 표현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커스텀 렌더링 패스 삽입 검증</a:t>
            </a:r>
          </a:p>
          <a:p>
            <a:pPr algn="l"/>
            <a:r>
              <a:rPr sz="1100" b="0" i="0">
                <a:solidFill>
                  <a:srgbClr val="666666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3가지 셰이더 모드 정상 동작 확인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0000" y="4680000"/>
            <a:ext cx="11124000" cy="0"/>
          </a:xfrm>
          <a:prstGeom prst="line">
            <a:avLst/>
          </a:prstGeom>
          <a:ln w="9525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6000" y="4824000"/>
            <a:ext cx="10980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MIDI  →  </a:t>
            </a:r>
            <a:r>
              <a:rPr sz="2400" b="1" i="0" dirty="0" err="1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운지법</a:t>
            </a:r>
            <a:r>
              <a:rPr sz="24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→  IK  →  Skinning  →  Rendering</a:t>
            </a:r>
            <a:endParaRPr lang="en-US" sz="2400" b="1" i="0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4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 기능에 대한 가능성을 입증하였음</a:t>
            </a:r>
            <a:r>
              <a:rPr lang="en-US" altLang="ko-KR" sz="2400" b="1" i="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ctr"/>
            <a:endParaRPr lang="en-US" sz="2400" b="1" dirty="0">
              <a:solidFill>
                <a:srgbClr val="333333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440000" y="5940000"/>
            <a:ext cx="9180000" cy="792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20000" y="6120000"/>
            <a:ext cx="882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학기 졸업프로젝트를 통해 실질적인 병합 및 프로그램 개발을 수행할 예정입니다</a:t>
            </a:r>
            <a:r>
              <a:rPr lang="en-US" altLang="ko-KR" sz="1600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ko-KR" altLang="en-US" sz="1600" b="1" i="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60000" y="6408000"/>
            <a:ext cx="9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999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1808</Words>
  <Application>Microsoft Office PowerPoint</Application>
  <PresentationFormat>사용자 지정</PresentationFormat>
  <Paragraphs>395</Paragraphs>
  <Slides>31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Geunnyeong Jung</dc:creator>
  <cp:keywords/>
  <dc:description>generated using python-pptx</dc:description>
  <cp:lastModifiedBy>근녕 정</cp:lastModifiedBy>
  <cp:revision>62</cp:revision>
  <dcterms:created xsi:type="dcterms:W3CDTF">2013-01-27T09:14:16Z</dcterms:created>
  <dcterms:modified xsi:type="dcterms:W3CDTF">2026-06-09T16:15:49Z</dcterms:modified>
  <cp:category/>
</cp:coreProperties>
</file>